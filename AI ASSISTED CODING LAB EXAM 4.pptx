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58" r:id="rId6"/>
    <p:sldId id="257"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11DCF-3D47-67C8-B40B-600AC8436F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FE3F153-7C4B-C095-8A1F-E596C4CA09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7D3DBF-3C1F-F520-FEA5-A8DFB0F1038B}"/>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5" name="Footer Placeholder 4">
            <a:extLst>
              <a:ext uri="{FF2B5EF4-FFF2-40B4-BE49-F238E27FC236}">
                <a16:creationId xmlns:a16="http://schemas.microsoft.com/office/drawing/2014/main" id="{D9EC99E9-BD21-799C-C675-6CED8A0F63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373688-2F9B-74E9-CED1-AAD121E0B022}"/>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2752553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36489-6FF7-37A6-5062-88BD106E4D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0962EA-0CC5-A480-6EE1-13EE81A1C9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560B1B-A1F4-2A35-85D2-A7005DCB47A7}"/>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5" name="Footer Placeholder 4">
            <a:extLst>
              <a:ext uri="{FF2B5EF4-FFF2-40B4-BE49-F238E27FC236}">
                <a16:creationId xmlns:a16="http://schemas.microsoft.com/office/drawing/2014/main" id="{C61FBBE4-A6F5-DA26-02B3-F125072481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6D0DFE-18E6-0428-62C0-49B64452B3D7}"/>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3368591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A274E-E13E-02A1-2EBB-A73A52029D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537F16-DF47-2E64-37E1-845627B507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C84062-9411-2E47-C634-5E6DA5B4523F}"/>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5" name="Footer Placeholder 4">
            <a:extLst>
              <a:ext uri="{FF2B5EF4-FFF2-40B4-BE49-F238E27FC236}">
                <a16:creationId xmlns:a16="http://schemas.microsoft.com/office/drawing/2014/main" id="{ECE5CCFD-CDFE-41ED-2914-12FC033DA5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01B1B7-1C9D-A946-759F-694942ECFCD4}"/>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3093546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CB86-6ADC-0E61-305C-377ED49CE1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D3A019-21CF-9138-66F8-7D388A7E96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713468-8610-B601-CE02-3F83B1A8C0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B56B07-B00F-1885-A241-FD8FA51E1733}"/>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6" name="Footer Placeholder 5">
            <a:extLst>
              <a:ext uri="{FF2B5EF4-FFF2-40B4-BE49-F238E27FC236}">
                <a16:creationId xmlns:a16="http://schemas.microsoft.com/office/drawing/2014/main" id="{F74A79B8-A47F-51FB-896B-FEF7525B04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F645F3-F57C-3263-50B3-7D9034ECF62A}"/>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555815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14932-8675-CDA9-4C02-70D4E5C765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A7EC8F-9C86-36A3-C125-41BAE50AFD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C17912-581B-5B9B-2C30-029EFDC671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63819D-73CE-30EF-65A0-128C232A50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560B16-C98E-19FB-9478-EB53272CFA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7449D78-45FC-17E1-FABA-0C947009787B}"/>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8" name="Footer Placeholder 7">
            <a:extLst>
              <a:ext uri="{FF2B5EF4-FFF2-40B4-BE49-F238E27FC236}">
                <a16:creationId xmlns:a16="http://schemas.microsoft.com/office/drawing/2014/main" id="{C740E734-2CAB-7E03-A754-57CA9518595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830D82C-AB34-C135-9A2E-FB4CB6B24571}"/>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4057937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6EBC0-6D84-8197-F9F6-46EB2B27CA3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C0F1A97-F9FD-5308-E6E0-CB0FA6B4D84A}"/>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4" name="Footer Placeholder 3">
            <a:extLst>
              <a:ext uri="{FF2B5EF4-FFF2-40B4-BE49-F238E27FC236}">
                <a16:creationId xmlns:a16="http://schemas.microsoft.com/office/drawing/2014/main" id="{15A866C1-E9E0-B919-0367-72422D33C7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5DB03D7-EB90-DF87-622B-4CF082541F6E}"/>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1521980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8B5A74-57CA-C4E1-0CA9-25F5D99B5472}"/>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3" name="Footer Placeholder 2">
            <a:extLst>
              <a:ext uri="{FF2B5EF4-FFF2-40B4-BE49-F238E27FC236}">
                <a16:creationId xmlns:a16="http://schemas.microsoft.com/office/drawing/2014/main" id="{7AFE64F8-C951-9E9A-473C-6122BD5AE6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D19065-0900-F874-E55A-6D74A436A296}"/>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1182627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BA04F-1B43-1211-3A54-60CB4DFD6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42707E9-A81F-9D2E-AC4C-69443CD7BD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5BDE2A-1077-B18B-AF6C-ADACFA2CB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96D599-6B18-CD10-33A2-EDA6AC22992C}"/>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6" name="Footer Placeholder 5">
            <a:extLst>
              <a:ext uri="{FF2B5EF4-FFF2-40B4-BE49-F238E27FC236}">
                <a16:creationId xmlns:a16="http://schemas.microsoft.com/office/drawing/2014/main" id="{F7FAC9EF-A9AF-5747-D889-A051D9FB5F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3C0C8C-2EAD-A80B-EE7A-F14372082F8C}"/>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3665940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CB2B8-D1E1-175C-D317-BE77492734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389EC5-4F2B-0B08-C4F4-168B9D80D6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12D8D4-3857-199C-B104-C74FF077EF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62F889-B239-7327-19FD-8B61FD7FDB83}"/>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6" name="Footer Placeholder 5">
            <a:extLst>
              <a:ext uri="{FF2B5EF4-FFF2-40B4-BE49-F238E27FC236}">
                <a16:creationId xmlns:a16="http://schemas.microsoft.com/office/drawing/2014/main" id="{903FE66A-734C-0251-63D6-9E96555679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8F52C7-F4F0-72E1-5D00-6198FC56A529}"/>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1167891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A8284-C0E8-852B-3590-3C22EE9228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B94762-9CD5-9DC7-93E0-FC5A6D0418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1C6522-1552-63C5-133B-8C908CDB702C}"/>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5" name="Footer Placeholder 4">
            <a:extLst>
              <a:ext uri="{FF2B5EF4-FFF2-40B4-BE49-F238E27FC236}">
                <a16:creationId xmlns:a16="http://schemas.microsoft.com/office/drawing/2014/main" id="{A34D3E35-1FBC-7C4D-37FF-2A69D95D4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018AE7-3F19-B23C-2D78-36483D3758FB}"/>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3385909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14CD6B-C230-C15C-F5A5-7ACC22AA45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007D18-F009-FF55-0019-C62D8E2CF4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C2FA53-B260-0FB4-1926-3B8A2B1EA669}"/>
              </a:ext>
            </a:extLst>
          </p:cNvPr>
          <p:cNvSpPr>
            <a:spLocks noGrp="1"/>
          </p:cNvSpPr>
          <p:nvPr>
            <p:ph type="dt" sz="half" idx="10"/>
          </p:nvPr>
        </p:nvSpPr>
        <p:spPr/>
        <p:txBody>
          <a:bodyPr/>
          <a:lstStyle/>
          <a:p>
            <a:fld id="{53BCFC86-97B1-44C9-87AE-5D5C72961E5C}" type="datetimeFigureOut">
              <a:rPr lang="en-IN" smtClean="0"/>
              <a:t>11-11-2025</a:t>
            </a:fld>
            <a:endParaRPr lang="en-IN"/>
          </a:p>
        </p:txBody>
      </p:sp>
      <p:sp>
        <p:nvSpPr>
          <p:cNvPr id="5" name="Footer Placeholder 4">
            <a:extLst>
              <a:ext uri="{FF2B5EF4-FFF2-40B4-BE49-F238E27FC236}">
                <a16:creationId xmlns:a16="http://schemas.microsoft.com/office/drawing/2014/main" id="{A6FFB89F-9B19-4F5E-EEE6-B2E4C122FA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F9B4FF-3C0E-6315-DD81-843B81510AD1}"/>
              </a:ext>
            </a:extLst>
          </p:cNvPr>
          <p:cNvSpPr>
            <a:spLocks noGrp="1"/>
          </p:cNvSpPr>
          <p:nvPr>
            <p:ph type="sldNum" sz="quarter" idx="12"/>
          </p:nvPr>
        </p:nvSpPr>
        <p:spPr/>
        <p:txBody>
          <a:bodyPr/>
          <a:lstStyle/>
          <a:p>
            <a:fld id="{A08DF79B-72EF-4AB9-820E-89C1251C579C}" type="slidenum">
              <a:rPr lang="en-IN" smtClean="0"/>
              <a:t>‹#›</a:t>
            </a:fld>
            <a:endParaRPr lang="en-IN"/>
          </a:p>
        </p:txBody>
      </p:sp>
    </p:spTree>
    <p:extLst>
      <p:ext uri="{BB962C8B-B14F-4D97-AF65-F5344CB8AC3E}">
        <p14:creationId xmlns:p14="http://schemas.microsoft.com/office/powerpoint/2010/main" val="2179870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DC9B45-D979-E997-8C83-EEEE6D36C6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4CF0A2-04AC-31C3-8D0F-038472F576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83A480-F244-B902-B5AD-D14D67F17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BCFC86-97B1-44C9-87AE-5D5C72961E5C}" type="datetimeFigureOut">
              <a:rPr lang="en-IN" smtClean="0"/>
              <a:t>11-11-2025</a:t>
            </a:fld>
            <a:endParaRPr lang="en-IN"/>
          </a:p>
        </p:txBody>
      </p:sp>
      <p:sp>
        <p:nvSpPr>
          <p:cNvPr id="5" name="Footer Placeholder 4">
            <a:extLst>
              <a:ext uri="{FF2B5EF4-FFF2-40B4-BE49-F238E27FC236}">
                <a16:creationId xmlns:a16="http://schemas.microsoft.com/office/drawing/2014/main" id="{CBE82683-14A6-B523-DAD9-41B52A077B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2090201-24BB-D881-BD3B-10A1A61820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8DF79B-72EF-4AB9-820E-89C1251C579C}" type="slidenum">
              <a:rPr lang="en-IN" smtClean="0"/>
              <a:t>‹#›</a:t>
            </a:fld>
            <a:endParaRPr lang="en-IN"/>
          </a:p>
        </p:txBody>
      </p:sp>
    </p:spTree>
    <p:extLst>
      <p:ext uri="{BB962C8B-B14F-4D97-AF65-F5344CB8AC3E}">
        <p14:creationId xmlns:p14="http://schemas.microsoft.com/office/powerpoint/2010/main" val="696432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526CD-FF8F-B3DF-B1B8-F8DB43580C7E}"/>
              </a:ext>
            </a:extLst>
          </p:cNvPr>
          <p:cNvSpPr>
            <a:spLocks noGrp="1"/>
          </p:cNvSpPr>
          <p:nvPr>
            <p:ph type="ctrTitle"/>
          </p:nvPr>
        </p:nvSpPr>
        <p:spPr/>
        <p:txBody>
          <a:bodyPr/>
          <a:lstStyle/>
          <a:p>
            <a:r>
              <a:rPr lang="en-IN" dirty="0"/>
              <a:t>AI ASSISTED CODING </a:t>
            </a:r>
          </a:p>
        </p:txBody>
      </p:sp>
      <p:sp>
        <p:nvSpPr>
          <p:cNvPr id="3" name="Subtitle 2">
            <a:extLst>
              <a:ext uri="{FF2B5EF4-FFF2-40B4-BE49-F238E27FC236}">
                <a16:creationId xmlns:a16="http://schemas.microsoft.com/office/drawing/2014/main" id="{6636FEEC-C094-41A1-9078-FB7A425AD77C}"/>
              </a:ext>
            </a:extLst>
          </p:cNvPr>
          <p:cNvSpPr>
            <a:spLocks noGrp="1"/>
          </p:cNvSpPr>
          <p:nvPr>
            <p:ph type="subTitle" idx="1"/>
          </p:nvPr>
        </p:nvSpPr>
        <p:spPr/>
        <p:txBody>
          <a:bodyPr/>
          <a:lstStyle/>
          <a:p>
            <a:r>
              <a:rPr lang="en-IN" dirty="0"/>
              <a:t>LAB EXAM -4</a:t>
            </a:r>
          </a:p>
        </p:txBody>
      </p:sp>
    </p:spTree>
    <p:extLst>
      <p:ext uri="{BB962C8B-B14F-4D97-AF65-F5344CB8AC3E}">
        <p14:creationId xmlns:p14="http://schemas.microsoft.com/office/powerpoint/2010/main" val="185693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827FCF-626B-B5B5-47A2-AC0AD38BCA16}"/>
              </a:ext>
            </a:extLst>
          </p:cNvPr>
          <p:cNvSpPr txBox="1"/>
          <p:nvPr/>
        </p:nvSpPr>
        <p:spPr>
          <a:xfrm>
            <a:off x="304800" y="566678"/>
            <a:ext cx="8681884" cy="2862322"/>
          </a:xfrm>
          <a:prstGeom prst="rect">
            <a:avLst/>
          </a:prstGeom>
          <a:noFill/>
        </p:spPr>
        <p:txBody>
          <a:bodyPr wrap="square">
            <a:spAutoFit/>
          </a:bodyPr>
          <a:lstStyle/>
          <a:p>
            <a:r>
              <a:rPr lang="en-US" dirty="0"/>
              <a:t>Question 1: Refactor Nested Conditional Statements Task: You are given the following legacy code that determines discounts based on customer type and purchase amount: def </a:t>
            </a:r>
            <a:r>
              <a:rPr lang="en-US" dirty="0" err="1"/>
              <a:t>calculate_discount</a:t>
            </a:r>
            <a:r>
              <a:rPr lang="en-US" dirty="0"/>
              <a:t>(</a:t>
            </a:r>
            <a:r>
              <a:rPr lang="en-US" dirty="0" err="1"/>
              <a:t>customer_type</a:t>
            </a:r>
            <a:r>
              <a:rPr lang="en-US" dirty="0"/>
              <a:t>, amount): if </a:t>
            </a:r>
            <a:r>
              <a:rPr lang="en-US" dirty="0" err="1"/>
              <a:t>customer_type</a:t>
            </a:r>
            <a:r>
              <a:rPr lang="en-US" dirty="0"/>
              <a:t> == "regular": if amount &gt; 5000: discount = amount * 0.05 else: discount = 0 else: if amount &gt; 3000: discount = amount * 0.10 else: discount = amount * 0.05 return amount - discount Your task: Use an AI-assisted code tool to refactor the function by: 1. Simplifying nested if-else statements for better readability. 2. Introducing cleaner logic using dictionaries or guard clauses. 3. Adding meaningful docstrings and inline comments. Instructions: • Verify the correctness by testing multiple input cases. • List the AI’s key refactoring suggestions and explain how they improved maintainability.</a:t>
            </a:r>
            <a:endParaRPr lang="en-IN" dirty="0"/>
          </a:p>
        </p:txBody>
      </p:sp>
      <p:sp>
        <p:nvSpPr>
          <p:cNvPr id="4" name="Title 3">
            <a:extLst>
              <a:ext uri="{FF2B5EF4-FFF2-40B4-BE49-F238E27FC236}">
                <a16:creationId xmlns:a16="http://schemas.microsoft.com/office/drawing/2014/main" id="{4E70831D-B036-8F9D-92B7-FDEC40848DA2}"/>
              </a:ext>
            </a:extLst>
          </p:cNvPr>
          <p:cNvSpPr>
            <a:spLocks noGrp="1"/>
          </p:cNvSpPr>
          <p:nvPr>
            <p:ph type="title"/>
          </p:nvPr>
        </p:nvSpPr>
        <p:spPr/>
        <p:txBody>
          <a:bodyPr/>
          <a:lstStyle/>
          <a:p>
            <a:endParaRPr lang="en-IN"/>
          </a:p>
        </p:txBody>
      </p:sp>
      <p:sp>
        <p:nvSpPr>
          <p:cNvPr id="5" name="Text Placeholder 4">
            <a:extLst>
              <a:ext uri="{FF2B5EF4-FFF2-40B4-BE49-F238E27FC236}">
                <a16:creationId xmlns:a16="http://schemas.microsoft.com/office/drawing/2014/main" id="{8C2282FD-0C87-020B-0A42-FB734582E17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99434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52341C0-F818-D9D7-D410-2A5D6EBA35B1}"/>
              </a:ext>
            </a:extLst>
          </p:cNvPr>
          <p:cNvSpPr txBox="1"/>
          <p:nvPr/>
        </p:nvSpPr>
        <p:spPr>
          <a:xfrm>
            <a:off x="3048828" y="677606"/>
            <a:ext cx="6097656" cy="5502788"/>
          </a:xfrm>
          <a:prstGeom prst="rect">
            <a:avLst/>
          </a:prstGeom>
          <a:noFill/>
        </p:spPr>
        <p:txBody>
          <a:bodyPr wrap="square">
            <a:spAutoFit/>
          </a:bodyPr>
          <a:lstStyle/>
          <a:p>
            <a:pPr>
              <a:lnSpc>
                <a:spcPts val="1425"/>
              </a:lnSpc>
              <a:buNone/>
            </a:pPr>
            <a:r>
              <a:rPr lang="en-US" b="0" dirty="0">
                <a:solidFill>
                  <a:srgbClr val="0000FF"/>
                </a:solidFill>
                <a:effectLst/>
                <a:latin typeface="Courier New" panose="02070309020205020404" pitchFamily="49" charset="0"/>
              </a:rPr>
              <a:t>def</a:t>
            </a:r>
            <a:r>
              <a:rPr lang="en-US" b="0" dirty="0">
                <a:solidFill>
                  <a:srgbClr val="000000"/>
                </a:solidFill>
                <a:effectLst/>
                <a:latin typeface="Courier New" panose="02070309020205020404" pitchFamily="49" charset="0"/>
              </a:rPr>
              <a:t> </a:t>
            </a:r>
            <a:r>
              <a:rPr lang="en-US" b="0" dirty="0" err="1">
                <a:solidFill>
                  <a:srgbClr val="6A5221"/>
                </a:solidFill>
                <a:effectLst/>
                <a:latin typeface="Courier New" panose="02070309020205020404" pitchFamily="49" charset="0"/>
              </a:rPr>
              <a:t>calculate_discount</a:t>
            </a:r>
            <a:r>
              <a:rPr lang="en-US" b="0" dirty="0">
                <a:solidFill>
                  <a:srgbClr val="000000"/>
                </a:solidFill>
                <a:effectLst/>
                <a:latin typeface="Courier New" panose="02070309020205020404" pitchFamily="49" charset="0"/>
              </a:rPr>
              <a:t>(</a:t>
            </a:r>
            <a:r>
              <a:rPr lang="en-US" b="0" dirty="0" err="1">
                <a:solidFill>
                  <a:srgbClr val="001080"/>
                </a:solidFill>
                <a:effectLst/>
                <a:latin typeface="Courier New" panose="02070309020205020404" pitchFamily="49" charset="0"/>
              </a:rPr>
              <a:t>customer_type</a:t>
            </a:r>
            <a:r>
              <a:rPr lang="en-US" b="0" dirty="0">
                <a:solidFill>
                  <a:srgbClr val="000000"/>
                </a:solidFill>
                <a:effectLst/>
                <a:latin typeface="Courier New" panose="02070309020205020404" pitchFamily="49" charset="0"/>
              </a:rPr>
              <a:t>, </a:t>
            </a:r>
            <a:r>
              <a:rPr lang="en-US" b="0" dirty="0">
                <a:solidFill>
                  <a:srgbClr val="001080"/>
                </a:solidFill>
                <a:effectLst/>
                <a:latin typeface="Courier New" panose="02070309020205020404" pitchFamily="49" charset="0"/>
              </a:rPr>
              <a:t>amount</a:t>
            </a:r>
            <a:r>
              <a:rPr lang="en-US" b="0" dirty="0">
                <a:solidFill>
                  <a:srgbClr val="000000"/>
                </a:solidFill>
                <a:effectLst/>
                <a:latin typeface="Courier New" panose="02070309020205020404" pitchFamily="49" charset="0"/>
              </a:rPr>
              <a:t>):</a:t>
            </a:r>
          </a:p>
          <a:p>
            <a:pPr>
              <a:lnSpc>
                <a:spcPts val="1425"/>
              </a:lnSpc>
              <a:buNone/>
            </a:pP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A31515"/>
                </a:solidFill>
                <a:effectLst/>
                <a:latin typeface="Courier New" panose="02070309020205020404" pitchFamily="49" charset="0"/>
              </a:rPr>
              <a:t>    Calculates the discounted amount based on customer type and purchase amount.</a:t>
            </a:r>
            <a:endParaRPr lang="en-US" b="0" dirty="0">
              <a:solidFill>
                <a:srgbClr val="000000"/>
              </a:solidFill>
              <a:effectLst/>
              <a:latin typeface="Courier New" panose="02070309020205020404" pitchFamily="49" charset="0"/>
            </a:endParaRPr>
          </a:p>
          <a:p>
            <a:pPr>
              <a:lnSpc>
                <a:spcPts val="1425"/>
              </a:lnSpc>
              <a:buNone/>
            </a:pPr>
            <a:br>
              <a:rPr lang="en-US" b="0" dirty="0">
                <a:solidFill>
                  <a:srgbClr val="000000"/>
                </a:solidFill>
                <a:effectLst/>
                <a:latin typeface="Courier New" panose="02070309020205020404" pitchFamily="49" charset="0"/>
              </a:rPr>
            </a:br>
            <a:endParaRPr lang="en-US" b="0" dirty="0">
              <a:solidFill>
                <a:srgbClr val="000000"/>
              </a:solidFill>
              <a:effectLst/>
              <a:latin typeface="Courier New" panose="02070309020205020404" pitchFamily="49" charset="0"/>
            </a:endParaRPr>
          </a:p>
          <a:p>
            <a:pPr>
              <a:lnSpc>
                <a:spcPts val="1425"/>
              </a:lnSpc>
              <a:buNone/>
            </a:pPr>
            <a:r>
              <a:rPr lang="en-US" b="0" dirty="0">
                <a:solidFill>
                  <a:srgbClr val="A31515"/>
                </a:solidFill>
                <a:effectLst/>
                <a:latin typeface="Courier New" panose="02070309020205020404" pitchFamily="49" charset="0"/>
              </a:rPr>
              <a:t>    </a:t>
            </a:r>
            <a:r>
              <a:rPr lang="en-US" b="0" dirty="0" err="1">
                <a:solidFill>
                  <a:srgbClr val="A31515"/>
                </a:solidFill>
                <a:effectLst/>
                <a:latin typeface="Courier New" panose="02070309020205020404" pitchFamily="49" charset="0"/>
              </a:rPr>
              <a:t>Args</a:t>
            </a:r>
            <a:r>
              <a:rPr lang="en-US" b="0" dirty="0">
                <a:solidFill>
                  <a:srgbClr val="A31515"/>
                </a:solidFill>
                <a:effectLst/>
                <a:latin typeface="Courier New" panose="02070309020205020404" pitchFamily="49" charset="0"/>
              </a:rPr>
              <a:t>:</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A31515"/>
                </a:solidFill>
                <a:effectLst/>
                <a:latin typeface="Courier New" panose="02070309020205020404" pitchFamily="49" charset="0"/>
              </a:rPr>
              <a:t>        </a:t>
            </a:r>
            <a:r>
              <a:rPr lang="en-US" b="0" dirty="0" err="1">
                <a:solidFill>
                  <a:srgbClr val="A31515"/>
                </a:solidFill>
                <a:effectLst/>
                <a:latin typeface="Courier New" panose="02070309020205020404" pitchFamily="49" charset="0"/>
              </a:rPr>
              <a:t>customer_type</a:t>
            </a:r>
            <a:r>
              <a:rPr lang="en-US" b="0" dirty="0">
                <a:solidFill>
                  <a:srgbClr val="A31515"/>
                </a:solidFill>
                <a:effectLst/>
                <a:latin typeface="Courier New" panose="02070309020205020404" pitchFamily="49" charset="0"/>
              </a:rPr>
              <a:t> (str): The type of customer ('regular' or other).</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A31515"/>
                </a:solidFill>
                <a:effectLst/>
                <a:latin typeface="Courier New" panose="02070309020205020404" pitchFamily="49" charset="0"/>
              </a:rPr>
              <a:t>        amount (float): The total purchase amount.</a:t>
            </a:r>
            <a:endParaRPr lang="en-US" b="0" dirty="0">
              <a:solidFill>
                <a:srgbClr val="000000"/>
              </a:solidFill>
              <a:effectLst/>
              <a:latin typeface="Courier New" panose="02070309020205020404" pitchFamily="49" charset="0"/>
            </a:endParaRPr>
          </a:p>
          <a:p>
            <a:pPr>
              <a:lnSpc>
                <a:spcPts val="1425"/>
              </a:lnSpc>
              <a:buNone/>
            </a:pPr>
            <a:br>
              <a:rPr lang="en-US" b="0" dirty="0">
                <a:solidFill>
                  <a:srgbClr val="000000"/>
                </a:solidFill>
                <a:effectLst/>
                <a:latin typeface="Courier New" panose="02070309020205020404" pitchFamily="49" charset="0"/>
              </a:rPr>
            </a:br>
            <a:endParaRPr lang="en-US" b="0" dirty="0">
              <a:solidFill>
                <a:srgbClr val="000000"/>
              </a:solidFill>
              <a:effectLst/>
              <a:latin typeface="Courier New" panose="02070309020205020404" pitchFamily="49" charset="0"/>
            </a:endParaRPr>
          </a:p>
          <a:p>
            <a:pPr>
              <a:lnSpc>
                <a:spcPts val="1425"/>
              </a:lnSpc>
              <a:buNone/>
            </a:pPr>
            <a:r>
              <a:rPr lang="en-US" b="0" dirty="0">
                <a:solidFill>
                  <a:srgbClr val="A31515"/>
                </a:solidFill>
                <a:effectLst/>
                <a:latin typeface="Courier New" panose="02070309020205020404" pitchFamily="49" charset="0"/>
              </a:rPr>
              <a:t>    Returns:</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A31515"/>
                </a:solidFill>
                <a:effectLst/>
                <a:latin typeface="Courier New" panose="02070309020205020404" pitchFamily="49" charset="0"/>
              </a:rPr>
              <a:t>        float: The discounted amount.</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A31515"/>
                </a:solidFill>
                <a:effectLst/>
                <a:latin typeface="Courier New" panose="02070309020205020404" pitchFamily="49" charset="0"/>
              </a:rPr>
              <a:t>    """</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if</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customer_type</a:t>
            </a:r>
            <a:r>
              <a:rPr lang="en-US" b="0" dirty="0">
                <a:solidFill>
                  <a:srgbClr val="000000"/>
                </a:solidFill>
                <a:effectLst/>
                <a:latin typeface="Courier New" panose="02070309020205020404" pitchFamily="49" charset="0"/>
              </a:rPr>
              <a:t> == </a:t>
            </a:r>
            <a:r>
              <a:rPr lang="en-US" b="0" dirty="0">
                <a:solidFill>
                  <a:srgbClr val="A31515"/>
                </a:solidFill>
                <a:effectLst/>
                <a:latin typeface="Courier New" panose="02070309020205020404" pitchFamily="49" charset="0"/>
              </a:rPr>
              <a:t>"regular"</a:t>
            </a:r>
            <a:r>
              <a:rPr lang="en-US" b="0" dirty="0">
                <a:solidFill>
                  <a:srgbClr val="000000"/>
                </a:solidFill>
                <a:effectLst/>
                <a:latin typeface="Courier New" panose="02070309020205020404" pitchFamily="49" charset="0"/>
              </a:rPr>
              <a:t>:</a:t>
            </a:r>
          </a:p>
          <a:p>
            <a:pPr>
              <a:lnSpc>
                <a:spcPts val="1425"/>
              </a:lnSpc>
              <a:buNone/>
            </a:pP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Regular customers get a 5% discount only if the amount is over 5000</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discount_rate</a:t>
            </a:r>
            <a:r>
              <a:rPr lang="en-US" b="0" dirty="0">
                <a:solidFill>
                  <a:srgbClr val="000000"/>
                </a:solidFill>
                <a:effectLst/>
                <a:latin typeface="Courier New" panose="02070309020205020404" pitchFamily="49" charset="0"/>
              </a:rPr>
              <a:t> = </a:t>
            </a:r>
            <a:r>
              <a:rPr lang="en-US" b="0" dirty="0">
                <a:solidFill>
                  <a:srgbClr val="116644"/>
                </a:solidFill>
                <a:effectLst/>
                <a:latin typeface="Courier New" panose="02070309020205020404" pitchFamily="49" charset="0"/>
              </a:rPr>
              <a:t>0.05</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if</a:t>
            </a:r>
            <a:r>
              <a:rPr lang="en-US" b="0" dirty="0">
                <a:solidFill>
                  <a:srgbClr val="000000"/>
                </a:solidFill>
                <a:effectLst/>
                <a:latin typeface="Courier New" panose="02070309020205020404" pitchFamily="49" charset="0"/>
              </a:rPr>
              <a:t> amount &gt; </a:t>
            </a:r>
            <a:r>
              <a:rPr lang="en-US" b="0" dirty="0">
                <a:solidFill>
                  <a:srgbClr val="116644"/>
                </a:solidFill>
                <a:effectLst/>
                <a:latin typeface="Courier New" panose="02070309020205020404" pitchFamily="49" charset="0"/>
              </a:rPr>
              <a:t>5000</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else</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0.0</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else</a:t>
            </a:r>
            <a:r>
              <a:rPr lang="en-US" b="0" dirty="0">
                <a:solidFill>
                  <a:srgbClr val="000000"/>
                </a:solidFill>
                <a:effectLst/>
                <a:latin typeface="Courier New" panose="02070309020205020404" pitchFamily="49" charset="0"/>
              </a:rPr>
              <a:t>:</a:t>
            </a:r>
          </a:p>
          <a:p>
            <a:pPr>
              <a:lnSpc>
                <a:spcPts val="1425"/>
              </a:lnSpc>
              <a:buNone/>
            </a:pP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Other customers get a 10% discount if amount is over 3000,</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otherwise a 5% discount.</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discount_rate</a:t>
            </a:r>
            <a:r>
              <a:rPr lang="en-US" b="0" dirty="0">
                <a:solidFill>
                  <a:srgbClr val="000000"/>
                </a:solidFill>
                <a:effectLst/>
                <a:latin typeface="Courier New" panose="02070309020205020404" pitchFamily="49" charset="0"/>
              </a:rPr>
              <a:t> = </a:t>
            </a:r>
            <a:r>
              <a:rPr lang="en-US" b="0" dirty="0">
                <a:solidFill>
                  <a:srgbClr val="116644"/>
                </a:solidFill>
                <a:effectLst/>
                <a:latin typeface="Courier New" panose="02070309020205020404" pitchFamily="49" charset="0"/>
              </a:rPr>
              <a:t>0.10</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if</a:t>
            </a:r>
            <a:r>
              <a:rPr lang="en-US" b="0" dirty="0">
                <a:solidFill>
                  <a:srgbClr val="000000"/>
                </a:solidFill>
                <a:effectLst/>
                <a:latin typeface="Courier New" panose="02070309020205020404" pitchFamily="49" charset="0"/>
              </a:rPr>
              <a:t> amount &gt; </a:t>
            </a:r>
            <a:r>
              <a:rPr lang="en-US" b="0" dirty="0">
                <a:solidFill>
                  <a:srgbClr val="116644"/>
                </a:solidFill>
                <a:effectLst/>
                <a:latin typeface="Courier New" panose="02070309020205020404" pitchFamily="49" charset="0"/>
              </a:rPr>
              <a:t>3000</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else</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0.05</a:t>
            </a:r>
            <a:endParaRPr lang="en-US" b="0" dirty="0">
              <a:solidFill>
                <a:srgbClr val="000000"/>
              </a:solidFill>
              <a:effectLst/>
              <a:latin typeface="Courier New" panose="02070309020205020404" pitchFamily="49" charset="0"/>
            </a:endParaRPr>
          </a:p>
          <a:p>
            <a:pPr>
              <a:lnSpc>
                <a:spcPts val="1425"/>
              </a:lnSpc>
              <a:buNone/>
            </a:pPr>
            <a:br>
              <a:rPr lang="en-US" b="0" dirty="0">
                <a:solidFill>
                  <a:srgbClr val="000000"/>
                </a:solidFill>
                <a:effectLst/>
                <a:latin typeface="Courier New" panose="02070309020205020404" pitchFamily="49" charset="0"/>
              </a:rPr>
            </a:br>
            <a:endParaRPr lang="en-US" b="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1435213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1375C50-CF44-8E24-82BD-956F477D4A12}"/>
              </a:ext>
            </a:extLst>
          </p:cNvPr>
          <p:cNvSpPr txBox="1"/>
          <p:nvPr/>
        </p:nvSpPr>
        <p:spPr>
          <a:xfrm>
            <a:off x="703193" y="393479"/>
            <a:ext cx="6097656" cy="3168816"/>
          </a:xfrm>
          <a:prstGeom prst="rect">
            <a:avLst/>
          </a:prstGeom>
          <a:noFill/>
        </p:spPr>
        <p:txBody>
          <a:bodyPr wrap="square">
            <a:spAutoFit/>
          </a:bodyPr>
          <a:lstStyle/>
          <a:p>
            <a:pPr>
              <a:lnSpc>
                <a:spcPts val="1425"/>
              </a:lnSpc>
              <a:buNone/>
            </a:pPr>
            <a:r>
              <a:rPr lang="en-US" b="0" dirty="0">
                <a:solidFill>
                  <a:srgbClr val="000000"/>
                </a:solidFill>
                <a:effectLst/>
                <a:latin typeface="Courier New" panose="02070309020205020404" pitchFamily="49" charset="0"/>
              </a:rPr>
              <a:t>discount = amount * </a:t>
            </a:r>
            <a:r>
              <a:rPr lang="en-US" b="0" dirty="0" err="1">
                <a:solidFill>
                  <a:srgbClr val="000000"/>
                </a:solidFill>
                <a:effectLst/>
                <a:latin typeface="Courier New" panose="02070309020205020404" pitchFamily="49" charset="0"/>
              </a:rPr>
              <a:t>discount_rate</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return</a:t>
            </a:r>
            <a:r>
              <a:rPr lang="en-US" b="0" dirty="0">
                <a:solidFill>
                  <a:srgbClr val="000000"/>
                </a:solidFill>
                <a:effectLst/>
                <a:latin typeface="Courier New" panose="02070309020205020404" pitchFamily="49" charset="0"/>
              </a:rPr>
              <a:t> amount - discount</a:t>
            </a:r>
          </a:p>
          <a:p>
            <a:pPr>
              <a:lnSpc>
                <a:spcPts val="1425"/>
              </a:lnSpc>
              <a:buNone/>
            </a:pPr>
            <a:br>
              <a:rPr lang="en-US" b="0" dirty="0">
                <a:solidFill>
                  <a:srgbClr val="000000"/>
                </a:solidFill>
                <a:effectLst/>
                <a:latin typeface="Courier New" panose="02070309020205020404" pitchFamily="49" charset="0"/>
              </a:rPr>
            </a:br>
            <a:endParaRPr lang="en-US" b="0" dirty="0">
              <a:solidFill>
                <a:srgbClr val="000000"/>
              </a:solidFill>
              <a:effectLst/>
              <a:latin typeface="Courier New" panose="02070309020205020404" pitchFamily="49" charset="0"/>
            </a:endParaRPr>
          </a:p>
          <a:p>
            <a:pPr>
              <a:lnSpc>
                <a:spcPts val="1425"/>
              </a:lnSpc>
              <a:buNone/>
            </a:pPr>
            <a:r>
              <a:rPr lang="en-US" b="0" dirty="0">
                <a:solidFill>
                  <a:srgbClr val="008000"/>
                </a:solidFill>
                <a:effectLst/>
                <a:latin typeface="Courier New" panose="02070309020205020404" pitchFamily="49" charset="0"/>
              </a:rPr>
              <a:t># Test cases to verify correctness</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6A5221"/>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FF"/>
                </a:solidFill>
                <a:effectLst/>
                <a:latin typeface="Courier New" panose="02070309020205020404" pitchFamily="49" charset="0"/>
              </a:rPr>
              <a:t>f</a:t>
            </a:r>
            <a:r>
              <a:rPr lang="en-US" b="0" dirty="0" err="1">
                <a:solidFill>
                  <a:srgbClr val="A31515"/>
                </a:solidFill>
                <a:effectLst/>
                <a:latin typeface="Courier New" panose="02070309020205020404" pitchFamily="49" charset="0"/>
              </a:rPr>
              <a:t>"Regular</a:t>
            </a:r>
            <a:r>
              <a:rPr lang="en-US" b="0" dirty="0">
                <a:solidFill>
                  <a:srgbClr val="A31515"/>
                </a:solidFill>
                <a:effectLst/>
                <a:latin typeface="Courier New" panose="02070309020205020404" pitchFamily="49" charset="0"/>
              </a:rPr>
              <a:t> customer, amount 6000: </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calculate_discount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'regular'</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6000</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Expected: 5700.0</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6A5221"/>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FF"/>
                </a:solidFill>
                <a:effectLst/>
                <a:latin typeface="Courier New" panose="02070309020205020404" pitchFamily="49" charset="0"/>
              </a:rPr>
              <a:t>f</a:t>
            </a:r>
            <a:r>
              <a:rPr lang="en-US" b="0" dirty="0" err="1">
                <a:solidFill>
                  <a:srgbClr val="A31515"/>
                </a:solidFill>
                <a:effectLst/>
                <a:latin typeface="Courier New" panose="02070309020205020404" pitchFamily="49" charset="0"/>
              </a:rPr>
              <a:t>"Regular</a:t>
            </a:r>
            <a:r>
              <a:rPr lang="en-US" b="0" dirty="0">
                <a:solidFill>
                  <a:srgbClr val="A31515"/>
                </a:solidFill>
                <a:effectLst/>
                <a:latin typeface="Courier New" panose="02070309020205020404" pitchFamily="49" charset="0"/>
              </a:rPr>
              <a:t> customer, amount 4000: </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calculate_discount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'regular'</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4000</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Expected: 4000.0</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6A5221"/>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FF"/>
                </a:solidFill>
                <a:effectLst/>
                <a:latin typeface="Courier New" panose="02070309020205020404" pitchFamily="49" charset="0"/>
              </a:rPr>
              <a:t>f</a:t>
            </a:r>
            <a:r>
              <a:rPr lang="en-US" b="0" dirty="0" err="1">
                <a:solidFill>
                  <a:srgbClr val="A31515"/>
                </a:solidFill>
                <a:effectLst/>
                <a:latin typeface="Courier New" panose="02070309020205020404" pitchFamily="49" charset="0"/>
              </a:rPr>
              <a:t>"Other</a:t>
            </a:r>
            <a:r>
              <a:rPr lang="en-US" b="0" dirty="0">
                <a:solidFill>
                  <a:srgbClr val="A31515"/>
                </a:solidFill>
                <a:effectLst/>
                <a:latin typeface="Courier New" panose="02070309020205020404" pitchFamily="49" charset="0"/>
              </a:rPr>
              <a:t> customer, amount 4000: </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calculate_discount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'other'</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4000</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Expected: 3600.0</a:t>
            </a:r>
            <a:endParaRPr lang="en-US" b="0" dirty="0">
              <a:solidFill>
                <a:srgbClr val="000000"/>
              </a:solidFill>
              <a:effectLst/>
              <a:latin typeface="Courier New" panose="02070309020205020404" pitchFamily="49" charset="0"/>
            </a:endParaRPr>
          </a:p>
          <a:p>
            <a:pPr>
              <a:lnSpc>
                <a:spcPts val="1425"/>
              </a:lnSpc>
              <a:buNone/>
            </a:pPr>
            <a:r>
              <a:rPr lang="en-US" b="0" dirty="0">
                <a:solidFill>
                  <a:srgbClr val="6A5221"/>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FF"/>
                </a:solidFill>
                <a:effectLst/>
                <a:latin typeface="Courier New" panose="02070309020205020404" pitchFamily="49" charset="0"/>
              </a:rPr>
              <a:t>f</a:t>
            </a:r>
            <a:r>
              <a:rPr lang="en-US" b="0" dirty="0" err="1">
                <a:solidFill>
                  <a:srgbClr val="A31515"/>
                </a:solidFill>
                <a:effectLst/>
                <a:latin typeface="Courier New" panose="02070309020205020404" pitchFamily="49" charset="0"/>
              </a:rPr>
              <a:t>"Other</a:t>
            </a:r>
            <a:r>
              <a:rPr lang="en-US" b="0" dirty="0">
                <a:solidFill>
                  <a:srgbClr val="A31515"/>
                </a:solidFill>
                <a:effectLst/>
                <a:latin typeface="Courier New" panose="02070309020205020404" pitchFamily="49" charset="0"/>
              </a:rPr>
              <a:t> customer, amount 2000: </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calculate_discount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'other'</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2000</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Expected: 1900.0</a:t>
            </a:r>
            <a:endParaRPr lang="en-US" b="0" dirty="0">
              <a:solidFill>
                <a:srgbClr val="000000"/>
              </a:solidFill>
              <a:effectLst/>
              <a:latin typeface="Courier New" panose="02070309020205020404" pitchFamily="49" charset="0"/>
            </a:endParaRPr>
          </a:p>
        </p:txBody>
      </p:sp>
      <p:sp>
        <p:nvSpPr>
          <p:cNvPr id="7" name="Text Placeholder 6">
            <a:extLst>
              <a:ext uri="{FF2B5EF4-FFF2-40B4-BE49-F238E27FC236}">
                <a16:creationId xmlns:a16="http://schemas.microsoft.com/office/drawing/2014/main" id="{701C16CB-F89F-E83B-90D3-00643B052954}"/>
              </a:ext>
            </a:extLst>
          </p:cNvPr>
          <p:cNvSpPr>
            <a:spLocks noGrp="1"/>
          </p:cNvSpPr>
          <p:nvPr>
            <p:ph type="body" idx="4294967295"/>
          </p:nvPr>
        </p:nvSpPr>
        <p:spPr>
          <a:xfrm>
            <a:off x="0" y="4589463"/>
            <a:ext cx="10515600" cy="1500187"/>
          </a:xfrm>
        </p:spPr>
        <p:txBody>
          <a:bodyPr/>
          <a:lstStyle/>
          <a:p>
            <a:r>
              <a:rPr lang="en-IN" dirty="0"/>
              <a:t>OUTPUT:</a:t>
            </a:r>
            <a:r>
              <a:rPr lang="en-US" dirty="0"/>
              <a:t>Regular customer, amount 6000: 5700.0 Regular customer, amount 4000: 4000.0 Other customer, amount 4000: 3600.0 Other customer, amount 2000: 1900.0</a:t>
            </a:r>
            <a:endParaRPr lang="en-IN" dirty="0"/>
          </a:p>
        </p:txBody>
      </p:sp>
    </p:spTree>
    <p:extLst>
      <p:ext uri="{BB962C8B-B14F-4D97-AF65-F5344CB8AC3E}">
        <p14:creationId xmlns:p14="http://schemas.microsoft.com/office/powerpoint/2010/main" val="3471183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84C44-CE8B-4C5C-5827-6960A28D6F43}"/>
              </a:ext>
            </a:extLst>
          </p:cNvPr>
          <p:cNvSpPr>
            <a:spLocks noGrp="1"/>
          </p:cNvSpPr>
          <p:nvPr>
            <p:ph type="title"/>
          </p:nvPr>
        </p:nvSpPr>
        <p:spPr/>
        <p:txBody>
          <a:bodyPr>
            <a:normAutofit/>
          </a:bodyPr>
          <a:lstStyle/>
          <a:p>
            <a:r>
              <a:rPr lang="en-IN" sz="3200" dirty="0"/>
              <a:t>EXPLAINATION</a:t>
            </a:r>
          </a:p>
        </p:txBody>
      </p:sp>
      <p:sp>
        <p:nvSpPr>
          <p:cNvPr id="4" name="Rectangle 1">
            <a:extLst>
              <a:ext uri="{FF2B5EF4-FFF2-40B4-BE49-F238E27FC236}">
                <a16:creationId xmlns:a16="http://schemas.microsoft.com/office/drawing/2014/main" id="{C800AEA0-12AB-9D4E-5D65-8450DBC91EC6}"/>
              </a:ext>
            </a:extLst>
          </p:cNvPr>
          <p:cNvSpPr>
            <a:spLocks noGrp="1" noChangeArrowheads="1"/>
          </p:cNvSpPr>
          <p:nvPr>
            <p:ph idx="1"/>
          </p:nvPr>
        </p:nvSpPr>
        <p:spPr bwMode="auto">
          <a:xfrm>
            <a:off x="0" y="2565020"/>
            <a:ext cx="11926957" cy="2872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50784"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panose="020B0604020202020204" pitchFamily="34" charset="0"/>
              </a:rPr>
              <a:t>his code defines a function called </a:t>
            </a:r>
            <a:r>
              <a:rPr kumimoji="0" lang="en-US" altLang="en-US" sz="1000" b="0" i="0" u="none" strike="noStrike" cap="none" normalizeH="0" baseline="0">
                <a:ln>
                  <a:noFill/>
                </a:ln>
                <a:solidFill>
                  <a:schemeClr val="tx1"/>
                </a:solidFill>
                <a:effectLst/>
                <a:latin typeface="Courier New" panose="02070309020205020404" pitchFamily="49" charset="0"/>
              </a:rPr>
              <a:t>calculate_discount</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that figures out the final price after a discount, based on who is buying (</a:t>
            </a:r>
            <a:r>
              <a:rPr kumimoji="0" lang="en-US" altLang="en-US" sz="1000" b="0" i="0" u="none" strike="noStrike" cap="none" normalizeH="0" baseline="0">
                <a:ln>
                  <a:noFill/>
                </a:ln>
                <a:solidFill>
                  <a:schemeClr val="tx1"/>
                </a:solidFill>
                <a:effectLst/>
                <a:latin typeface="Courier New" panose="02070309020205020404" pitchFamily="49" charset="0"/>
              </a:rPr>
              <a:t>customer_type</a:t>
            </a:r>
            <a:r>
              <a:rPr kumimoji="0" lang="en-US" altLang="en-US" sz="1000" b="0" i="0" u="none" strike="noStrike" cap="none" normalizeH="0" baseline="0">
                <a:ln>
                  <a:noFill/>
                </a:ln>
                <a:solidFill>
                  <a:schemeClr val="tx1"/>
                </a:solidFill>
                <a:effectLst/>
              </a:rPr>
              <a:t>) and how much they are spending (</a:t>
            </a:r>
            <a:r>
              <a:rPr kumimoji="0" lang="en-US" altLang="en-US" sz="1000" b="0" i="0" u="none" strike="noStrike" cap="none" normalizeH="0" baseline="0">
                <a:ln>
                  <a:noFill/>
                </a:ln>
                <a:solidFill>
                  <a:schemeClr val="tx1"/>
                </a:solidFill>
                <a:effectLst/>
                <a:latin typeface="Courier New" panose="02070309020205020404" pitchFamily="49" charset="0"/>
              </a:rPr>
              <a:t>amount</a:t>
            </a:r>
            <a:r>
              <a:rPr kumimoji="0" lang="en-US" altLang="en-US" sz="1000" b="0" i="0" u="none" strike="noStrike" cap="none" normalizeH="0" baseline="0">
                <a:ln>
                  <a:noFill/>
                </a:ln>
                <a:solidFill>
                  <a:schemeClr val="tx1"/>
                </a:solidFill>
                <a:effectLst/>
              </a:rPr>
              <a: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panose="020B0604020202020204" pitchFamily="34" charset="0"/>
              </a:rPr>
              <a:t>Here's what the key parts mean: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def calculate_discount(customer_type, amount):</a:t>
            </a:r>
            <a:r>
              <a:rPr kumimoji="0" lang="en-US" altLang="en-US" sz="1000" b="0" i="0" u="none" strike="noStrike" cap="none" normalizeH="0" baseline="0">
                <a:ln>
                  <a:noFill/>
                </a:ln>
                <a:solidFill>
                  <a:schemeClr val="tx1"/>
                </a:solidFill>
                <a:effectLst/>
              </a:rPr>
              <a:t>: This line starts the definition of a function named</a:t>
            </a:r>
            <a:r>
              <a:rPr kumimoji="0" lang="en-US" altLang="en-US" sz="1000" b="0" i="0" u="none" strike="noStrike" cap="none" normalizeH="0" baseline="0">
                <a:ln>
                  <a:noFill/>
                </a:ln>
                <a:solidFill>
                  <a:schemeClr val="tx1"/>
                </a:solidFill>
                <a:effectLst/>
                <a:latin typeface="Arial" panose="020B0604020202020204" pitchFamily="34" charset="0"/>
              </a:rPr>
              <a:t> </a:t>
            </a:r>
            <a:r>
              <a:rPr kumimoji="0" lang="en-US" altLang="en-US" sz="1000" b="0" i="0" u="none" strike="noStrike" cap="none" normalizeH="0" baseline="0">
                <a:ln>
                  <a:noFill/>
                </a:ln>
                <a:solidFill>
                  <a:schemeClr val="tx1"/>
                </a:solidFill>
                <a:effectLst/>
                <a:latin typeface="Courier New" panose="02070309020205020404" pitchFamily="49" charset="0"/>
              </a:rPr>
              <a:t>calculate_discount</a:t>
            </a:r>
            <a:r>
              <a:rPr kumimoji="0" lang="en-US" altLang="en-US" sz="1000" b="0" i="0" u="none" strike="noStrike" cap="none" normalizeH="0" baseline="0">
                <a:ln>
                  <a:noFill/>
                </a:ln>
                <a:solidFill>
                  <a:schemeClr val="tx1"/>
                </a:solidFill>
                <a:effectLst/>
              </a:rPr>
              <a:t>. It takes two pieces of information (arguments):</a:t>
            </a:r>
            <a:r>
              <a:rPr kumimoji="0" lang="en-US" altLang="en-US" sz="1000" b="0" i="0" u="none" strike="noStrike" cap="none" normalizeH="0" baseline="0">
                <a:ln>
                  <a:noFill/>
                </a:ln>
                <a:solidFill>
                  <a:schemeClr val="tx1"/>
                </a:solidFill>
                <a:effectLst/>
                <a:latin typeface="Arial" panose="020B0604020202020204" pitchFamily="34" charset="0"/>
              </a:rPr>
              <a:t> </a:t>
            </a:r>
            <a:r>
              <a:rPr kumimoji="0" lang="en-US" altLang="en-US" sz="1000" b="0" i="0" u="none" strike="noStrike" cap="none" normalizeH="0" baseline="0">
                <a:ln>
                  <a:noFill/>
                </a:ln>
                <a:solidFill>
                  <a:schemeClr val="tx1"/>
                </a:solidFill>
                <a:effectLst/>
                <a:latin typeface="Courier New" panose="02070309020205020404" pitchFamily="49" charset="0"/>
              </a:rPr>
              <a:t>customer_type</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(like 'regular') and </a:t>
            </a:r>
            <a:r>
              <a:rPr kumimoji="0" lang="en-US" altLang="en-US" sz="1000" b="0" i="0" u="none" strike="noStrike" cap="none" normalizeH="0" baseline="0">
                <a:ln>
                  <a:noFill/>
                </a:ln>
                <a:solidFill>
                  <a:schemeClr val="tx1"/>
                </a:solidFill>
                <a:effectLst/>
                <a:latin typeface="Courier New" panose="02070309020205020404" pitchFamily="49" charset="0"/>
              </a:rPr>
              <a:t>amount</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(the total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 ... """</a:t>
            </a:r>
            <a:r>
              <a:rPr kumimoji="0" lang="en-US" altLang="en-US" sz="1000" b="1" i="0" u="none" strike="noStrike" cap="none" normalizeH="0" baseline="0">
                <a:ln>
                  <a:noFill/>
                </a:ln>
                <a:solidFill>
                  <a:schemeClr val="tx1"/>
                </a:solidFill>
                <a:effectLst/>
              </a:rPr>
              <a:t> </a:t>
            </a:r>
            <a:r>
              <a:rPr kumimoji="0" lang="en-US" altLang="en-US" sz="1000" b="1" i="0" u="none" strike="noStrike" cap="none" normalizeH="0" baseline="0">
                <a:ln>
                  <a:noFill/>
                </a:ln>
                <a:solidFill>
                  <a:schemeClr val="tx1"/>
                </a:solidFill>
                <a:effectLst/>
                <a:latin typeface="Arial" panose="020B0604020202020204" pitchFamily="34" charset="0"/>
              </a:rPr>
              <a:t>(Docstring)</a:t>
            </a:r>
            <a:r>
              <a:rPr kumimoji="0" lang="en-US" altLang="en-US" sz="1000" b="0" i="0" u="none" strike="noStrike" cap="none" normalizeH="0" baseline="0">
                <a:ln>
                  <a:noFill/>
                </a:ln>
                <a:solidFill>
                  <a:schemeClr val="tx1"/>
                </a:solidFill>
                <a:effectLst/>
                <a:latin typeface="Arial" panose="020B0604020202020204" pitchFamily="34" charset="0"/>
              </a:rPr>
              <a:t>: This is a special comment that explains what the function does, its arguments, and what it returns. It's helpful for anyone reading the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if customer_type == "regular":</a:t>
            </a:r>
            <a:r>
              <a:rPr kumimoji="0" lang="en-US" altLang="en-US" sz="1000" b="0" i="0" u="none" strike="noStrike" cap="none" normalizeH="0" baseline="0">
                <a:ln>
                  <a:noFill/>
                </a:ln>
                <a:solidFill>
                  <a:schemeClr val="tx1"/>
                </a:solidFill>
                <a:effectLst/>
              </a:rPr>
              <a:t>: This checks if the customer is a "regular" customer.</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discount_rate = 0.05 if amount &gt; 5000 else 0.0</a:t>
            </a:r>
            <a:r>
              <a:rPr kumimoji="0" lang="en-US" altLang="en-US" sz="1000" b="0" i="0" u="none" strike="noStrike" cap="none" normalizeH="0" baseline="0">
                <a:ln>
                  <a:noFill/>
                </a:ln>
                <a:solidFill>
                  <a:schemeClr val="tx1"/>
                </a:solidFill>
                <a:effectLst/>
              </a:rPr>
              <a:t>: This is a concise way of saying: if the</a:t>
            </a:r>
            <a:r>
              <a:rPr kumimoji="0" lang="en-US" altLang="en-US" sz="1000" b="0" i="0" u="none" strike="noStrike" cap="none" normalizeH="0" baseline="0">
                <a:ln>
                  <a:noFill/>
                </a:ln>
                <a:solidFill>
                  <a:schemeClr val="tx1"/>
                </a:solidFill>
                <a:effectLst/>
                <a:latin typeface="Arial" panose="020B0604020202020204" pitchFamily="34" charset="0"/>
              </a:rPr>
              <a:t> </a:t>
            </a:r>
            <a:r>
              <a:rPr kumimoji="0" lang="en-US" altLang="en-US" sz="1000" b="0" i="0" u="none" strike="noStrike" cap="none" normalizeH="0" baseline="0">
                <a:ln>
                  <a:noFill/>
                </a:ln>
                <a:solidFill>
                  <a:schemeClr val="tx1"/>
                </a:solidFill>
                <a:effectLst/>
                <a:latin typeface="Courier New" panose="02070309020205020404" pitchFamily="49" charset="0"/>
              </a:rPr>
              <a:t>amount</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is greater than 5000, the </a:t>
            </a:r>
            <a:r>
              <a:rPr kumimoji="0" lang="en-US" altLang="en-US" sz="1000" b="0" i="0" u="none" strike="noStrike" cap="none" normalizeH="0" baseline="0">
                <a:ln>
                  <a:noFill/>
                </a:ln>
                <a:solidFill>
                  <a:schemeClr val="tx1"/>
                </a:solidFill>
                <a:effectLst/>
                <a:latin typeface="Courier New" panose="02070309020205020404" pitchFamily="49" charset="0"/>
              </a:rPr>
              <a:t>discount_rate</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is 0.05 (5%), otherwise the </a:t>
            </a:r>
            <a:r>
              <a:rPr kumimoji="0" lang="en-US" altLang="en-US" sz="1000" b="0" i="0" u="none" strike="noStrike" cap="none" normalizeH="0" baseline="0">
                <a:ln>
                  <a:noFill/>
                </a:ln>
                <a:solidFill>
                  <a:schemeClr val="tx1"/>
                </a:solidFill>
                <a:effectLst/>
                <a:latin typeface="Courier New" panose="02070309020205020404" pitchFamily="49" charset="0"/>
              </a:rPr>
              <a:t>discount_rate</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is 0.0 (no discount). This is a conditional expression.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else:</a:t>
            </a:r>
            <a:r>
              <a:rPr kumimoji="0" lang="en-US" altLang="en-US" sz="1000" b="0" i="0" u="none" strike="noStrike" cap="none" normalizeH="0" baseline="0">
                <a:ln>
                  <a:noFill/>
                </a:ln>
                <a:solidFill>
                  <a:schemeClr val="tx1"/>
                </a:solidFill>
                <a:effectLst/>
              </a:rPr>
              <a:t>: This part runs if the</a:t>
            </a:r>
            <a:r>
              <a:rPr kumimoji="0" lang="en-US" altLang="en-US" sz="1000" b="0" i="0" u="none" strike="noStrike" cap="none" normalizeH="0" baseline="0">
                <a:ln>
                  <a:noFill/>
                </a:ln>
                <a:solidFill>
                  <a:schemeClr val="tx1"/>
                </a:solidFill>
                <a:effectLst/>
                <a:latin typeface="Arial" panose="020B0604020202020204" pitchFamily="34" charset="0"/>
              </a:rPr>
              <a:t> </a:t>
            </a:r>
            <a:r>
              <a:rPr kumimoji="0" lang="en-US" altLang="en-US" sz="1000" b="0" i="0" u="none" strike="noStrike" cap="none" normalizeH="0" baseline="0">
                <a:ln>
                  <a:noFill/>
                </a:ln>
                <a:solidFill>
                  <a:schemeClr val="tx1"/>
                </a:solidFill>
                <a:effectLst/>
                <a:latin typeface="Courier New" panose="02070309020205020404" pitchFamily="49" charset="0"/>
              </a:rPr>
              <a:t>customer_type</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is NOT "regular".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discount_rate = 0.10 if amount &gt; 3000 else 0.05</a:t>
            </a:r>
            <a:r>
              <a:rPr kumimoji="0" lang="en-US" altLang="en-US" sz="1000" b="0" i="0" u="none" strike="noStrike" cap="none" normalizeH="0" baseline="0">
                <a:ln>
                  <a:noFill/>
                </a:ln>
                <a:solidFill>
                  <a:schemeClr val="tx1"/>
                </a:solidFill>
                <a:effectLst/>
              </a:rPr>
              <a:t>: This means if the</a:t>
            </a:r>
            <a:r>
              <a:rPr kumimoji="0" lang="en-US" altLang="en-US" sz="1000" b="0" i="0" u="none" strike="noStrike" cap="none" normalizeH="0" baseline="0">
                <a:ln>
                  <a:noFill/>
                </a:ln>
                <a:solidFill>
                  <a:schemeClr val="tx1"/>
                </a:solidFill>
                <a:effectLst/>
                <a:latin typeface="Arial" panose="020B0604020202020204" pitchFamily="34" charset="0"/>
              </a:rPr>
              <a:t> </a:t>
            </a:r>
            <a:r>
              <a:rPr kumimoji="0" lang="en-US" altLang="en-US" sz="1000" b="0" i="0" u="none" strike="noStrike" cap="none" normalizeH="0" baseline="0">
                <a:ln>
                  <a:noFill/>
                </a:ln>
                <a:solidFill>
                  <a:schemeClr val="tx1"/>
                </a:solidFill>
                <a:effectLst/>
                <a:latin typeface="Courier New" panose="02070309020205020404" pitchFamily="49" charset="0"/>
              </a:rPr>
              <a:t>amount</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is greater than 3000, the </a:t>
            </a:r>
            <a:r>
              <a:rPr kumimoji="0" lang="en-US" altLang="en-US" sz="1000" b="0" i="0" u="none" strike="noStrike" cap="none" normalizeH="0" baseline="0">
                <a:ln>
                  <a:noFill/>
                </a:ln>
                <a:solidFill>
                  <a:schemeClr val="tx1"/>
                </a:solidFill>
                <a:effectLst/>
                <a:latin typeface="Courier New" panose="02070309020205020404" pitchFamily="49" charset="0"/>
              </a:rPr>
              <a:t>discount_rate</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is 0.10 (10%), otherwise the </a:t>
            </a:r>
            <a:r>
              <a:rPr kumimoji="0" lang="en-US" altLang="en-US" sz="1000" b="0" i="0" u="none" strike="noStrike" cap="none" normalizeH="0" baseline="0">
                <a:ln>
                  <a:noFill/>
                </a:ln>
                <a:solidFill>
                  <a:schemeClr val="tx1"/>
                </a:solidFill>
                <a:effectLst/>
                <a:latin typeface="Courier New" panose="02070309020205020404" pitchFamily="49" charset="0"/>
              </a:rPr>
              <a:t>discount_rate</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is 0.05 (5%).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discount = amount * discount_rate</a:t>
            </a:r>
            <a:r>
              <a:rPr kumimoji="0" lang="en-US" altLang="en-US" sz="1000" b="0" i="0" u="none" strike="noStrike" cap="none" normalizeH="0" baseline="0">
                <a:ln>
                  <a:noFill/>
                </a:ln>
                <a:solidFill>
                  <a:schemeClr val="tx1"/>
                </a:solidFill>
                <a:effectLst/>
              </a:rPr>
              <a:t>: This calculates the actual discount amount by multiplying the total</a:t>
            </a:r>
            <a:r>
              <a:rPr kumimoji="0" lang="en-US" altLang="en-US" sz="1000" b="0" i="0" u="none" strike="noStrike" cap="none" normalizeH="0" baseline="0">
                <a:ln>
                  <a:noFill/>
                </a:ln>
                <a:solidFill>
                  <a:schemeClr val="tx1"/>
                </a:solidFill>
                <a:effectLst/>
                <a:latin typeface="Arial" panose="020B0604020202020204" pitchFamily="34" charset="0"/>
              </a:rPr>
              <a:t> </a:t>
            </a:r>
            <a:r>
              <a:rPr kumimoji="0" lang="en-US" altLang="en-US" sz="1000" b="0" i="0" u="none" strike="noStrike" cap="none" normalizeH="0" baseline="0">
                <a:ln>
                  <a:noFill/>
                </a:ln>
                <a:solidFill>
                  <a:schemeClr val="tx1"/>
                </a:solidFill>
                <a:effectLst/>
                <a:latin typeface="Courier New" panose="02070309020205020404" pitchFamily="49" charset="0"/>
              </a:rPr>
              <a:t>amount</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by the determined </a:t>
            </a:r>
            <a:r>
              <a:rPr kumimoji="0" lang="en-US" altLang="en-US" sz="1000" b="0" i="0" u="none" strike="noStrike" cap="none" normalizeH="0" baseline="0">
                <a:ln>
                  <a:noFill/>
                </a:ln>
                <a:solidFill>
                  <a:schemeClr val="tx1"/>
                </a:solidFill>
                <a:effectLst/>
                <a:latin typeface="Courier New" panose="02070309020205020404" pitchFamily="49" charset="0"/>
              </a:rPr>
              <a:t>discount_rate</a:t>
            </a:r>
            <a:r>
              <a:rPr kumimoji="0" lang="en-US" altLang="en-US" sz="1000" b="0" i="0" u="none" strike="noStrike" cap="none" normalizeH="0" baseline="0">
                <a:ln>
                  <a:noFill/>
                </a:ln>
                <a:solidFill>
                  <a:schemeClr val="tx1"/>
                </a:solidFill>
                <a:effectLst/>
              </a:rPr>
              <a: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return amount - discount</a:t>
            </a:r>
            <a:r>
              <a:rPr kumimoji="0" lang="en-US" altLang="en-US" sz="1000" b="0" i="0" u="none" strike="noStrike" cap="none" normalizeH="0" baseline="0">
                <a:ln>
                  <a:noFill/>
                </a:ln>
                <a:solidFill>
                  <a:schemeClr val="tx1"/>
                </a:solidFill>
                <a:effectLst/>
              </a:rPr>
              <a:t>: This line sends back the final price after subtracting the</a:t>
            </a:r>
            <a:r>
              <a:rPr kumimoji="0" lang="en-US" altLang="en-US" sz="1000" b="0" i="0" u="none" strike="noStrike" cap="none" normalizeH="0" baseline="0">
                <a:ln>
                  <a:noFill/>
                </a:ln>
                <a:solidFill>
                  <a:schemeClr val="tx1"/>
                </a:solidFill>
                <a:effectLst/>
                <a:latin typeface="Arial" panose="020B0604020202020204" pitchFamily="34" charset="0"/>
              </a:rPr>
              <a:t> </a:t>
            </a:r>
            <a:r>
              <a:rPr kumimoji="0" lang="en-US" altLang="en-US" sz="1000" b="0" i="0" u="none" strike="noStrike" cap="none" normalizeH="0" baseline="0">
                <a:ln>
                  <a:noFill/>
                </a:ln>
                <a:solidFill>
                  <a:schemeClr val="tx1"/>
                </a:solidFill>
                <a:effectLst/>
                <a:latin typeface="Courier New" panose="02070309020205020404" pitchFamily="49" charset="0"/>
              </a:rPr>
              <a:t>discount</a:t>
            </a:r>
            <a:r>
              <a:rPr kumimoji="0" lang="en-US" altLang="en-US" sz="1000" b="0" i="0" u="none" strike="noStrike" cap="none" normalizeH="0" baseline="0">
                <a:ln>
                  <a:noFill/>
                </a:ln>
                <a:solidFill>
                  <a:schemeClr val="tx1"/>
                </a:solidFill>
                <a:effectLst/>
              </a:rPr>
              <a:t> </a:t>
            </a:r>
            <a:r>
              <a:rPr kumimoji="0" lang="en-US" altLang="en-US" sz="1000" b="0" i="0" u="none" strike="noStrike" cap="none" normalizeH="0" baseline="0">
                <a:ln>
                  <a:noFill/>
                </a:ln>
                <a:solidFill>
                  <a:schemeClr val="tx1"/>
                </a:solidFill>
                <a:effectLst/>
                <a:latin typeface="Arial" panose="020B0604020202020204" pitchFamily="34" charset="0"/>
              </a:rPr>
              <a:t>from the original </a:t>
            </a:r>
            <a:r>
              <a:rPr kumimoji="0" lang="en-US" altLang="en-US" sz="1000" b="0" i="0" u="none" strike="noStrike" cap="none" normalizeH="0" baseline="0">
                <a:ln>
                  <a:noFill/>
                </a:ln>
                <a:solidFill>
                  <a:schemeClr val="tx1"/>
                </a:solidFill>
                <a:effectLst/>
                <a:latin typeface="Courier New" panose="02070309020205020404" pitchFamily="49" charset="0"/>
              </a:rPr>
              <a:t>amount</a:t>
            </a:r>
            <a:r>
              <a:rPr kumimoji="0" lang="en-US" altLang="en-US" sz="1000" b="0" i="0" u="none" strike="noStrike" cap="none" normalizeH="0" baseline="0">
                <a:ln>
                  <a:noFill/>
                </a:ln>
                <a:solidFill>
                  <a:schemeClr val="tx1"/>
                </a:solidFill>
                <a:effectLst/>
              </a:rPr>
              <a: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panose="020B0604020202020204" pitchFamily="34" charset="0"/>
              </a:rPr>
              <a:t>The lines after the function definition are </a:t>
            </a:r>
            <a:r>
              <a:rPr kumimoji="0" lang="en-US" altLang="en-US" sz="1000" b="1" i="0" u="none" strike="noStrike" cap="none" normalizeH="0" baseline="0">
                <a:ln>
                  <a:noFill/>
                </a:ln>
                <a:solidFill>
                  <a:schemeClr val="tx1"/>
                </a:solidFill>
                <a:effectLst/>
                <a:latin typeface="Arial" panose="020B0604020202020204" pitchFamily="34" charset="0"/>
              </a:rPr>
              <a:t>test cases</a:t>
            </a:r>
            <a:r>
              <a:rPr kumimoji="0" lang="en-US" altLang="en-US" sz="1000" b="0" i="0" u="none" strike="noStrike" cap="none" normalizeH="0" baseline="0">
                <a:ln>
                  <a:noFill/>
                </a:ln>
                <a:solidFill>
                  <a:schemeClr val="tx1"/>
                </a:solidFill>
                <a:effectLst/>
                <a:latin typeface="Arial" panose="020B0604020202020204" pitchFamily="34" charset="0"/>
              </a:rPr>
              <a:t>. They call the function with different inputs and print the result to check if the function is working correctly based on expected outcomes.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print(...)</a:t>
            </a:r>
            <a:r>
              <a:rPr kumimoji="0" lang="en-US" altLang="en-US" sz="1000" b="0" i="0" u="none" strike="noStrike" cap="none" normalizeH="0" baseline="0">
                <a:ln>
                  <a:noFill/>
                </a:ln>
                <a:solidFill>
                  <a:schemeClr val="tx1"/>
                </a:solidFill>
                <a:effectLst/>
              </a:rPr>
              <a:t>: This displays the output to the console.</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Courier New" panose="02070309020205020404" pitchFamily="49" charset="0"/>
              </a:rPr>
              <a:t>f"..."</a:t>
            </a:r>
            <a:r>
              <a:rPr kumimoji="0" lang="en-US" altLang="en-US" sz="1000" b="1" i="0" u="none" strike="noStrike" cap="none" normalizeH="0" baseline="0">
                <a:ln>
                  <a:noFill/>
                </a:ln>
                <a:solidFill>
                  <a:schemeClr val="tx1"/>
                </a:solidFill>
                <a:effectLst/>
              </a:rPr>
              <a:t> </a:t>
            </a:r>
            <a:r>
              <a:rPr kumimoji="0" lang="en-US" altLang="en-US" sz="1000" b="1" i="0" u="none" strike="noStrike" cap="none" normalizeH="0" baseline="0">
                <a:ln>
                  <a:noFill/>
                </a:ln>
                <a:solidFill>
                  <a:schemeClr val="tx1"/>
                </a:solidFill>
                <a:effectLst/>
                <a:latin typeface="Arial" panose="020B0604020202020204" pitchFamily="34" charset="0"/>
              </a:rPr>
              <a:t>(f-string)</a:t>
            </a:r>
            <a:r>
              <a:rPr kumimoji="0" lang="en-US" altLang="en-US" sz="1000" b="0" i="0" u="none" strike="noStrike" cap="none" normalizeH="0" baseline="0">
                <a:ln>
                  <a:noFill/>
                </a:ln>
                <a:solidFill>
                  <a:schemeClr val="tx1"/>
                </a:solidFill>
                <a:effectLst/>
                <a:latin typeface="Arial" panose="020B0604020202020204" pitchFamily="34" charset="0"/>
              </a:rPr>
              <a:t>: This is a way to embed variable values directly inside a string for easy printing.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panose="020B0604020202020204" pitchFamily="34" charset="0"/>
              </a:rPr>
              <a:t>Let me know if you'd like a more detailed explanation of any specific part!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Arial" panose="020B0604020202020204" pitchFamily="34" charset="0"/>
              </a:rPr>
            </a:br>
            <a:endParaRPr kumimoji="0" lang="en-US" altLang="en-US" sz="1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6090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2A5A72-F08F-1172-8453-D21901856C94}"/>
              </a:ext>
            </a:extLst>
          </p:cNvPr>
          <p:cNvSpPr txBox="1"/>
          <p:nvPr/>
        </p:nvSpPr>
        <p:spPr>
          <a:xfrm>
            <a:off x="295688" y="262382"/>
            <a:ext cx="11184007" cy="2308324"/>
          </a:xfrm>
          <a:prstGeom prst="rect">
            <a:avLst/>
          </a:prstGeom>
          <a:noFill/>
        </p:spPr>
        <p:txBody>
          <a:bodyPr wrap="square">
            <a:spAutoFit/>
          </a:bodyPr>
          <a:lstStyle/>
          <a:p>
            <a:r>
              <a:rPr lang="en-US" dirty="0"/>
              <a:t>Question 2: Refactor Repetitive Code Using Functions Task: The following script calculates total sales for different product categories but repeats logic unnecessarily: electronics = [1200, 1500, 1000, 800] clothing = [500, 700, 600] groceries = [200, 150, 180, 220] </a:t>
            </a:r>
            <a:r>
              <a:rPr lang="en-US" dirty="0" err="1"/>
              <a:t>total_electronics</a:t>
            </a:r>
            <a:r>
              <a:rPr lang="en-US" dirty="0"/>
              <a:t> = 0 for e in electronics: </a:t>
            </a:r>
            <a:r>
              <a:rPr lang="en-US" dirty="0" err="1"/>
              <a:t>total_electronics</a:t>
            </a:r>
            <a:r>
              <a:rPr lang="en-US" dirty="0"/>
              <a:t> += e </a:t>
            </a:r>
            <a:r>
              <a:rPr lang="en-US" dirty="0" err="1"/>
              <a:t>total_clothing</a:t>
            </a:r>
            <a:r>
              <a:rPr lang="en-US" dirty="0"/>
              <a:t> = 0 for c in clothing: </a:t>
            </a:r>
            <a:r>
              <a:rPr lang="en-US" dirty="0" err="1"/>
              <a:t>total_clothing</a:t>
            </a:r>
            <a:r>
              <a:rPr lang="en-US" dirty="0"/>
              <a:t> += c </a:t>
            </a:r>
            <a:r>
              <a:rPr lang="en-US" dirty="0" err="1"/>
              <a:t>total_groceries</a:t>
            </a:r>
            <a:r>
              <a:rPr lang="en-US" dirty="0"/>
              <a:t> = 0 for g in groceries: </a:t>
            </a:r>
            <a:r>
              <a:rPr lang="en-US" dirty="0" err="1"/>
              <a:t>total_groceries</a:t>
            </a:r>
            <a:r>
              <a:rPr lang="en-US" dirty="0"/>
              <a:t> += g print("Total Electronics:", </a:t>
            </a:r>
            <a:r>
              <a:rPr lang="en-US" dirty="0" err="1"/>
              <a:t>total_electronics</a:t>
            </a:r>
            <a:r>
              <a:rPr lang="en-US" dirty="0"/>
              <a:t>) print("Total Clothing:", </a:t>
            </a:r>
            <a:r>
              <a:rPr lang="en-US" dirty="0" err="1"/>
              <a:t>total_clothing</a:t>
            </a:r>
            <a:r>
              <a:rPr lang="en-US" dirty="0"/>
              <a:t>) print("Total Groceries:", </a:t>
            </a:r>
            <a:r>
              <a:rPr lang="en-US" dirty="0" err="1"/>
              <a:t>total_groceries</a:t>
            </a:r>
            <a:r>
              <a:rPr lang="en-US" dirty="0"/>
              <a:t>) Your task: Use AI-assisted refactoring to: 1. Remove repetitive code by creating reusable functions or loops. 2. Make the script scalable for any number of categories. 3. Apply modern Python practices (e.g., sum(), dictionary iteration). Instructions: • Compare old and new code performance and readability. • Document which AI-generated improvements you used.</a:t>
            </a:r>
            <a:endParaRPr lang="en-IN" dirty="0"/>
          </a:p>
        </p:txBody>
      </p:sp>
    </p:spTree>
    <p:extLst>
      <p:ext uri="{BB962C8B-B14F-4D97-AF65-F5344CB8AC3E}">
        <p14:creationId xmlns:p14="http://schemas.microsoft.com/office/powerpoint/2010/main" val="2815785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945EF-E30C-68D2-1A6B-A8F94D15AA49}"/>
              </a:ext>
            </a:extLst>
          </p:cNvPr>
          <p:cNvSpPr>
            <a:spLocks noGrp="1"/>
          </p:cNvSpPr>
          <p:nvPr>
            <p:ph type="title"/>
          </p:nvPr>
        </p:nvSpPr>
        <p:spPr/>
        <p:txBody>
          <a:bodyPr/>
          <a:lstStyle/>
          <a:p>
            <a:r>
              <a:rPr lang="en-IN" dirty="0"/>
              <a:t>CODE</a:t>
            </a:r>
          </a:p>
        </p:txBody>
      </p:sp>
      <p:sp>
        <p:nvSpPr>
          <p:cNvPr id="3" name="Content Placeholder 2">
            <a:extLst>
              <a:ext uri="{FF2B5EF4-FFF2-40B4-BE49-F238E27FC236}">
                <a16:creationId xmlns:a16="http://schemas.microsoft.com/office/drawing/2014/main" id="{6A118E2E-A6E4-A203-EDCD-3882560F7220}"/>
              </a:ext>
            </a:extLst>
          </p:cNvPr>
          <p:cNvSpPr>
            <a:spLocks noGrp="1"/>
          </p:cNvSpPr>
          <p:nvPr>
            <p:ph idx="1"/>
          </p:nvPr>
        </p:nvSpPr>
        <p:spPr/>
        <p:txBody>
          <a:bodyPr>
            <a:normAutofit fontScale="55000" lnSpcReduction="20000"/>
          </a:bodyPr>
          <a:lstStyle/>
          <a:p>
            <a:r>
              <a:rPr lang="en-IN" dirty="0"/>
              <a:t>electronics = [1200, 1500, 1000, 800]</a:t>
            </a:r>
          </a:p>
          <a:p>
            <a:r>
              <a:rPr lang="en-IN" dirty="0"/>
              <a:t>clothing = [500, 700, 600]</a:t>
            </a:r>
          </a:p>
          <a:p>
            <a:r>
              <a:rPr lang="en-IN" dirty="0"/>
              <a:t>groceries = [200, 150, 180, 220]</a:t>
            </a:r>
          </a:p>
          <a:p>
            <a:br>
              <a:rPr lang="en-IN" dirty="0"/>
            </a:br>
            <a:endParaRPr lang="en-IN" dirty="0"/>
          </a:p>
          <a:p>
            <a:r>
              <a:rPr lang="en-IN" dirty="0" err="1"/>
              <a:t>sales_data</a:t>
            </a:r>
            <a:r>
              <a:rPr lang="en-IN" dirty="0"/>
              <a:t> = {</a:t>
            </a:r>
          </a:p>
          <a:p>
            <a:r>
              <a:rPr lang="en-IN" dirty="0"/>
              <a:t>    "Electronics": electronics,</a:t>
            </a:r>
          </a:p>
          <a:p>
            <a:r>
              <a:rPr lang="en-IN" dirty="0"/>
              <a:t>    "Clothing": clothing,</a:t>
            </a:r>
          </a:p>
          <a:p>
            <a:r>
              <a:rPr lang="en-IN" dirty="0"/>
              <a:t>    "Groceries": groceries</a:t>
            </a:r>
          </a:p>
          <a:p>
            <a:r>
              <a:rPr lang="en-IN" dirty="0"/>
              <a:t>}</a:t>
            </a:r>
          </a:p>
          <a:p>
            <a:br>
              <a:rPr lang="en-IN" dirty="0"/>
            </a:br>
            <a:endParaRPr lang="en-IN" dirty="0"/>
          </a:p>
          <a:p>
            <a:r>
              <a:rPr lang="en-IN" dirty="0"/>
              <a:t>for category, </a:t>
            </a:r>
            <a:r>
              <a:rPr lang="en-IN" dirty="0" err="1"/>
              <a:t>sales_list</a:t>
            </a:r>
            <a:r>
              <a:rPr lang="en-IN" dirty="0"/>
              <a:t> in </a:t>
            </a:r>
            <a:r>
              <a:rPr lang="en-IN" dirty="0" err="1"/>
              <a:t>sales_data.items</a:t>
            </a:r>
            <a:r>
              <a:rPr lang="en-IN" dirty="0"/>
              <a:t>():</a:t>
            </a:r>
          </a:p>
          <a:p>
            <a:r>
              <a:rPr lang="en-IN" dirty="0"/>
              <a:t>    </a:t>
            </a:r>
            <a:r>
              <a:rPr lang="en-IN" dirty="0" err="1"/>
              <a:t>total_sales</a:t>
            </a:r>
            <a:r>
              <a:rPr lang="en-IN" dirty="0"/>
              <a:t> = sum(</a:t>
            </a:r>
            <a:r>
              <a:rPr lang="en-IN" dirty="0" err="1"/>
              <a:t>sales_list</a:t>
            </a:r>
            <a:r>
              <a:rPr lang="en-IN" dirty="0"/>
              <a:t>)</a:t>
            </a:r>
          </a:p>
          <a:p>
            <a:r>
              <a:rPr lang="en-IN" dirty="0"/>
              <a:t>    print(</a:t>
            </a:r>
            <a:r>
              <a:rPr lang="en-IN" dirty="0" err="1"/>
              <a:t>f"Total</a:t>
            </a:r>
            <a:r>
              <a:rPr lang="en-IN" dirty="0"/>
              <a:t> {category}: {</a:t>
            </a:r>
            <a:r>
              <a:rPr lang="en-IN" dirty="0" err="1"/>
              <a:t>total_sales</a:t>
            </a:r>
            <a:r>
              <a:rPr lang="en-IN" dirty="0"/>
              <a:t>}")</a:t>
            </a:r>
          </a:p>
          <a:p>
            <a:endParaRPr lang="en-IN" dirty="0"/>
          </a:p>
        </p:txBody>
      </p:sp>
    </p:spTree>
    <p:extLst>
      <p:ext uri="{BB962C8B-B14F-4D97-AF65-F5344CB8AC3E}">
        <p14:creationId xmlns:p14="http://schemas.microsoft.com/office/powerpoint/2010/main" val="3093721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640FE-7266-959A-7D45-CDDA94E5F5B1}"/>
              </a:ext>
            </a:extLst>
          </p:cNvPr>
          <p:cNvSpPr>
            <a:spLocks noGrp="1"/>
          </p:cNvSpPr>
          <p:nvPr>
            <p:ph type="title"/>
          </p:nvPr>
        </p:nvSpPr>
        <p:spPr/>
        <p:txBody>
          <a:bodyPr>
            <a:normAutofit/>
          </a:bodyPr>
          <a:lstStyle/>
          <a:p>
            <a:r>
              <a:rPr lang="en-IN" sz="3600" b="1" dirty="0"/>
              <a:t>OUTPUT</a:t>
            </a:r>
          </a:p>
        </p:txBody>
      </p:sp>
      <p:sp>
        <p:nvSpPr>
          <p:cNvPr id="3" name="Content Placeholder 2">
            <a:extLst>
              <a:ext uri="{FF2B5EF4-FFF2-40B4-BE49-F238E27FC236}">
                <a16:creationId xmlns:a16="http://schemas.microsoft.com/office/drawing/2014/main" id="{E06192EA-1CE8-A458-E6DF-B3207067E2CE}"/>
              </a:ext>
            </a:extLst>
          </p:cNvPr>
          <p:cNvSpPr>
            <a:spLocks noGrp="1"/>
          </p:cNvSpPr>
          <p:nvPr>
            <p:ph idx="1"/>
          </p:nvPr>
        </p:nvSpPr>
        <p:spPr/>
        <p:txBody>
          <a:bodyPr/>
          <a:lstStyle/>
          <a:p>
            <a:r>
              <a:rPr lang="en-US" dirty="0"/>
              <a:t>Total Electronics: 4500</a:t>
            </a:r>
          </a:p>
          <a:p>
            <a:r>
              <a:rPr lang="en-US" dirty="0"/>
              <a:t> Total Clothing: 1800</a:t>
            </a:r>
          </a:p>
          <a:p>
            <a:r>
              <a:rPr lang="en-US" dirty="0"/>
              <a:t> Total Groceries: 750</a:t>
            </a:r>
            <a:endParaRPr lang="en-IN" dirty="0"/>
          </a:p>
        </p:txBody>
      </p:sp>
    </p:spTree>
    <p:extLst>
      <p:ext uri="{BB962C8B-B14F-4D97-AF65-F5344CB8AC3E}">
        <p14:creationId xmlns:p14="http://schemas.microsoft.com/office/powerpoint/2010/main" val="615970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96E08A-F6CE-C470-F1FA-B9A88B1C16B3}"/>
              </a:ext>
            </a:extLst>
          </p:cNvPr>
          <p:cNvSpPr>
            <a:spLocks noChangeArrowheads="1"/>
          </p:cNvSpPr>
          <p:nvPr/>
        </p:nvSpPr>
        <p:spPr bwMode="auto">
          <a:xfrm>
            <a:off x="156817" y="1184055"/>
            <a:ext cx="9293087" cy="4165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50784"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This code is designed to calculate the total sales for different groups of products.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1" i="0" u="none" strike="noStrike" cap="none" normalizeH="0" baseline="0" dirty="0">
                <a:ln>
                  <a:noFill/>
                </a:ln>
                <a:solidFill>
                  <a:schemeClr val="tx1"/>
                </a:solidFill>
                <a:effectLst/>
                <a:latin typeface="Courier New" panose="02070309020205020404" pitchFamily="49" charset="0"/>
              </a:rPr>
              <a:t>electronics</a:t>
            </a:r>
            <a:r>
              <a:rPr kumimoji="0" lang="en-US" altLang="en-US" sz="1200" b="1" i="0" u="none" strike="noStrike" cap="none" normalizeH="0" baseline="0" dirty="0">
                <a:ln>
                  <a:noFill/>
                </a:ln>
                <a:solidFill>
                  <a:schemeClr val="tx1"/>
                </a:solidFill>
                <a:effectLst/>
              </a:rPr>
              <a:t>,</a:t>
            </a:r>
            <a:r>
              <a:rPr kumimoji="0" lang="en-US" altLang="en-US" sz="1200" b="1"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Courier New" panose="02070309020205020404" pitchFamily="49" charset="0"/>
              </a:rPr>
              <a:t>clothing</a:t>
            </a:r>
            <a:r>
              <a:rPr kumimoji="0" lang="en-US" altLang="en-US" sz="1200" b="1" i="0" u="none" strike="noStrike" cap="none" normalizeH="0" baseline="0" dirty="0">
                <a:ln>
                  <a:noFill/>
                </a:ln>
                <a:solidFill>
                  <a:schemeClr val="tx1"/>
                </a:solidFill>
                <a:effectLst/>
              </a:rPr>
              <a:t>,</a:t>
            </a:r>
            <a:r>
              <a:rPr kumimoji="0" lang="en-US" altLang="en-US" sz="1200" b="1"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Courier New" panose="02070309020205020404" pitchFamily="49" charset="0"/>
              </a:rPr>
              <a:t>groceries</a:t>
            </a:r>
            <a:r>
              <a:rPr kumimoji="0" lang="en-US" altLang="en-US" sz="1200" b="0" i="0" u="none" strike="noStrike" cap="none" normalizeH="0" baseline="0" dirty="0">
                <a:ln>
                  <a:noFill/>
                </a:ln>
                <a:solidFill>
                  <a:schemeClr val="tx1"/>
                </a:solidFill>
                <a:effectLst/>
              </a:rPr>
              <a:t>: These lines create lists of numbers. Each list represents the sales amounts for a specific type of product (electronics, clothing, and groceries).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1" i="0" u="none" strike="noStrike" cap="none" normalizeH="0" baseline="0" dirty="0" err="1">
                <a:ln>
                  <a:noFill/>
                </a:ln>
                <a:solidFill>
                  <a:schemeClr val="tx1"/>
                </a:solidFill>
                <a:effectLst/>
                <a:latin typeface="Courier New" panose="02070309020205020404" pitchFamily="49" charset="0"/>
              </a:rPr>
              <a:t>sales_data</a:t>
            </a:r>
            <a:r>
              <a:rPr kumimoji="0" lang="en-US" altLang="en-US" sz="1200" b="1" i="0" u="none" strike="noStrike" cap="none" normalizeH="0" baseline="0" dirty="0">
                <a:ln>
                  <a:noFill/>
                </a:ln>
                <a:solidFill>
                  <a:schemeClr val="tx1"/>
                </a:solidFill>
                <a:effectLst/>
                <a:latin typeface="Courier New" panose="02070309020205020404" pitchFamily="49" charset="0"/>
              </a:rPr>
              <a:t> = { ... }</a:t>
            </a:r>
            <a:r>
              <a:rPr kumimoji="0" lang="en-US" altLang="en-US" sz="1200" b="0" i="0" u="none" strike="noStrike" cap="none" normalizeH="0" baseline="0" dirty="0">
                <a:ln>
                  <a:noFill/>
                </a:ln>
                <a:solidFill>
                  <a:schemeClr val="tx1"/>
                </a:solidFill>
                <a:effectLst/>
              </a:rPr>
              <a:t>: This creates a dictionary called</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0" i="0" u="none" strike="noStrike" cap="none" normalizeH="0" baseline="0" dirty="0" err="1">
                <a:ln>
                  <a:noFill/>
                </a:ln>
                <a:solidFill>
                  <a:schemeClr val="tx1"/>
                </a:solidFill>
                <a:effectLst/>
                <a:latin typeface="Courier New" panose="02070309020205020404" pitchFamily="49" charset="0"/>
              </a:rPr>
              <a:t>sales_data</a:t>
            </a:r>
            <a:r>
              <a:rPr kumimoji="0" lang="en-US" altLang="en-US" sz="1200" b="0" i="0" u="none" strike="noStrike" cap="none" normalizeH="0" baseline="0" dirty="0">
                <a:ln>
                  <a:noFill/>
                </a:ln>
                <a:solidFill>
                  <a:schemeClr val="tx1"/>
                </a:solidFill>
                <a:effectLst/>
              </a:rPr>
              <a:t>. Think of a dictionary as a way to store information using labels. Here, the labels are the product categories ("Electronics", "Clothing", "Groceries"), and the information stored under each label is the list of sales numbers for that category.</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1" i="0" u="none" strike="noStrike" cap="none" normalizeH="0" baseline="0" dirty="0">
                <a:ln>
                  <a:noFill/>
                </a:ln>
                <a:solidFill>
                  <a:schemeClr val="tx1"/>
                </a:solidFill>
                <a:effectLst/>
                <a:latin typeface="Courier New" panose="02070309020205020404" pitchFamily="49" charset="0"/>
              </a:rPr>
              <a:t>for category, </a:t>
            </a:r>
            <a:r>
              <a:rPr kumimoji="0" lang="en-US" altLang="en-US" sz="1200" b="1" i="0" u="none" strike="noStrike" cap="none" normalizeH="0" baseline="0" dirty="0" err="1">
                <a:ln>
                  <a:noFill/>
                </a:ln>
                <a:solidFill>
                  <a:schemeClr val="tx1"/>
                </a:solidFill>
                <a:effectLst/>
                <a:latin typeface="Courier New" panose="02070309020205020404" pitchFamily="49" charset="0"/>
              </a:rPr>
              <a:t>sales_list</a:t>
            </a:r>
            <a:r>
              <a:rPr kumimoji="0" lang="en-US" altLang="en-US" sz="1200" b="1" i="0" u="none" strike="noStrike" cap="none" normalizeH="0" baseline="0" dirty="0">
                <a:ln>
                  <a:noFill/>
                </a:ln>
                <a:solidFill>
                  <a:schemeClr val="tx1"/>
                </a:solidFill>
                <a:effectLst/>
                <a:latin typeface="Courier New" panose="02070309020205020404" pitchFamily="49" charset="0"/>
              </a:rPr>
              <a:t> in </a:t>
            </a:r>
            <a:r>
              <a:rPr kumimoji="0" lang="en-US" altLang="en-US" sz="1200" b="1" i="0" u="none" strike="noStrike" cap="none" normalizeH="0" baseline="0" dirty="0" err="1">
                <a:ln>
                  <a:noFill/>
                </a:ln>
                <a:solidFill>
                  <a:schemeClr val="tx1"/>
                </a:solidFill>
                <a:effectLst/>
                <a:latin typeface="Courier New" panose="02070309020205020404" pitchFamily="49" charset="0"/>
              </a:rPr>
              <a:t>sales_data.items</a:t>
            </a:r>
            <a:r>
              <a:rPr kumimoji="0" lang="en-US" altLang="en-US" sz="1200" b="1" i="0" u="none" strike="noStrike" cap="none" normalizeH="0" baseline="0" dirty="0">
                <a:ln>
                  <a:noFill/>
                </a:ln>
                <a:solidFill>
                  <a:schemeClr val="tx1"/>
                </a:solidFill>
                <a:effectLst/>
                <a:latin typeface="Courier New" panose="02070309020205020404" pitchFamily="49" charset="0"/>
              </a:rPr>
              <a:t>():</a:t>
            </a:r>
            <a:r>
              <a:rPr kumimoji="0" lang="en-US" altLang="en-US" sz="1200" b="0" i="0" u="none" strike="noStrike" cap="none" normalizeH="0" baseline="0" dirty="0">
                <a:ln>
                  <a:noFill/>
                </a:ln>
                <a:solidFill>
                  <a:schemeClr val="tx1"/>
                </a:solidFill>
                <a:effectLst/>
              </a:rPr>
              <a:t>: This line starts a loop. It goes through each item in the</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0" i="0" u="none" strike="noStrike" cap="none" normalizeH="0" baseline="0" dirty="0" err="1">
                <a:ln>
                  <a:noFill/>
                </a:ln>
                <a:solidFill>
                  <a:schemeClr val="tx1"/>
                </a:solidFill>
                <a:effectLst/>
                <a:latin typeface="Courier New" panose="02070309020205020404" pitchFamily="49" charset="0"/>
              </a:rPr>
              <a:t>sales_data</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panose="020B0604020202020204" pitchFamily="34" charset="0"/>
              </a:rPr>
              <a:t>dictionary. In each step of the loop: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Courier New" panose="02070309020205020404" pitchFamily="49" charset="0"/>
              </a:rPr>
              <a:t>category</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panose="020B0604020202020204" pitchFamily="34" charset="0"/>
              </a:rPr>
              <a:t>will be the label (like "Electronics").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err="1">
                <a:ln>
                  <a:noFill/>
                </a:ln>
                <a:solidFill>
                  <a:schemeClr val="tx1"/>
                </a:solidFill>
                <a:effectLst/>
                <a:latin typeface="Courier New" panose="02070309020205020404" pitchFamily="49" charset="0"/>
              </a:rPr>
              <a:t>sales_list</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panose="020B0604020202020204" pitchFamily="34" charset="0"/>
              </a:rPr>
              <a:t>will be the list of sales numbers for that label (like </a:t>
            </a:r>
            <a:r>
              <a:rPr kumimoji="0" lang="en-US" altLang="en-US" sz="1200" b="0" i="0" u="none" strike="noStrike" cap="none" normalizeH="0" baseline="0" dirty="0">
                <a:ln>
                  <a:noFill/>
                </a:ln>
                <a:solidFill>
                  <a:schemeClr val="tx1"/>
                </a:solidFill>
                <a:effectLst/>
                <a:latin typeface="Courier New" panose="02070309020205020404" pitchFamily="49" charset="0"/>
              </a:rPr>
              <a:t>[1200, 1500, 1000, 800]</a:t>
            </a:r>
            <a:r>
              <a:rPr kumimoji="0" lang="en-US" altLang="en-US" sz="1200" b="0" i="0" u="none" strike="noStrike" cap="none" normalizeH="0" baseline="0" dirty="0">
                <a:ln>
                  <a:noFill/>
                </a:ln>
                <a:solidFill>
                  <a:schemeClr val="tx1"/>
                </a:solidFill>
                <a:effectLst/>
              </a:rPr>
              <a:t>).</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1" i="0" u="none" strike="noStrike" cap="none" normalizeH="0" baseline="0" dirty="0" err="1">
                <a:ln>
                  <a:noFill/>
                </a:ln>
                <a:solidFill>
                  <a:schemeClr val="tx1"/>
                </a:solidFill>
                <a:effectLst/>
                <a:latin typeface="Courier New" panose="02070309020205020404" pitchFamily="49" charset="0"/>
              </a:rPr>
              <a:t>total_sales</a:t>
            </a:r>
            <a:r>
              <a:rPr kumimoji="0" lang="en-US" altLang="en-US" sz="1200" b="1" i="0" u="none" strike="noStrike" cap="none" normalizeH="0" baseline="0" dirty="0">
                <a:ln>
                  <a:noFill/>
                </a:ln>
                <a:solidFill>
                  <a:schemeClr val="tx1"/>
                </a:solidFill>
                <a:effectLst/>
                <a:latin typeface="Courier New" panose="02070309020205020404" pitchFamily="49" charset="0"/>
              </a:rPr>
              <a:t> = sum(</a:t>
            </a:r>
            <a:r>
              <a:rPr kumimoji="0" lang="en-US" altLang="en-US" sz="1200" b="1" i="0" u="none" strike="noStrike" cap="none" normalizeH="0" baseline="0" dirty="0" err="1">
                <a:ln>
                  <a:noFill/>
                </a:ln>
                <a:solidFill>
                  <a:schemeClr val="tx1"/>
                </a:solidFill>
                <a:effectLst/>
                <a:latin typeface="Courier New" panose="02070309020205020404" pitchFamily="49" charset="0"/>
              </a:rPr>
              <a:t>sales_list</a:t>
            </a:r>
            <a:r>
              <a:rPr kumimoji="0" lang="en-US" altLang="en-US" sz="1200" b="1" i="0" u="none" strike="noStrike" cap="none" normalizeH="0" baseline="0" dirty="0">
                <a:ln>
                  <a:noFill/>
                </a:ln>
                <a:solidFill>
                  <a:schemeClr val="tx1"/>
                </a:solidFill>
                <a:effectLst/>
                <a:latin typeface="Courier New" panose="02070309020205020404" pitchFamily="49" charset="0"/>
              </a:rPr>
              <a:t>)</a:t>
            </a:r>
            <a:r>
              <a:rPr kumimoji="0" lang="en-US" altLang="en-US" sz="1200" b="0" i="0" u="none" strike="noStrike" cap="none" normalizeH="0" baseline="0" dirty="0">
                <a:ln>
                  <a:noFill/>
                </a:ln>
                <a:solidFill>
                  <a:schemeClr val="tx1"/>
                </a:solidFill>
                <a:effectLst/>
              </a:rPr>
              <a:t>: Inside the loop, for each category, this line calculates the total of all the numbers in the</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0" i="0" u="none" strike="noStrike" cap="none" normalizeH="0" baseline="0" dirty="0" err="1">
                <a:ln>
                  <a:noFill/>
                </a:ln>
                <a:solidFill>
                  <a:schemeClr val="tx1"/>
                </a:solidFill>
                <a:effectLst/>
                <a:latin typeface="Courier New" panose="02070309020205020404" pitchFamily="49" charset="0"/>
              </a:rPr>
              <a:t>sales_list</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panose="020B0604020202020204" pitchFamily="34" charset="0"/>
              </a:rPr>
              <a:t>using the built-in </a:t>
            </a:r>
            <a:r>
              <a:rPr kumimoji="0" lang="en-US" altLang="en-US" sz="1200" b="0" i="0" u="none" strike="noStrike" cap="none" normalizeH="0" baseline="0" dirty="0">
                <a:ln>
                  <a:noFill/>
                </a:ln>
                <a:solidFill>
                  <a:schemeClr val="tx1"/>
                </a:solidFill>
                <a:effectLst/>
                <a:latin typeface="Courier New" panose="02070309020205020404" pitchFamily="49" charset="0"/>
              </a:rPr>
              <a:t>sum()</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panose="020B0604020202020204" pitchFamily="34" charset="0"/>
              </a:rPr>
              <a:t>function. The result is stored in the </a:t>
            </a:r>
            <a:r>
              <a:rPr kumimoji="0" lang="en-US" altLang="en-US" sz="1200" b="0" i="0" u="none" strike="noStrike" cap="none" normalizeH="0" baseline="0" dirty="0" err="1">
                <a:ln>
                  <a:noFill/>
                </a:ln>
                <a:solidFill>
                  <a:schemeClr val="tx1"/>
                </a:solidFill>
                <a:effectLst/>
                <a:latin typeface="Courier New" panose="02070309020205020404" pitchFamily="49" charset="0"/>
              </a:rPr>
              <a:t>total_sales</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panose="020B0604020202020204" pitchFamily="34" charset="0"/>
              </a:rPr>
              <a:t>variable.</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1" i="0" u="none" strike="noStrike" cap="none" normalizeH="0" baseline="0" dirty="0">
                <a:ln>
                  <a:noFill/>
                </a:ln>
                <a:solidFill>
                  <a:schemeClr val="tx1"/>
                </a:solidFill>
                <a:effectLst/>
                <a:latin typeface="Courier New" panose="02070309020205020404" pitchFamily="49" charset="0"/>
              </a:rPr>
              <a:t>print(</a:t>
            </a:r>
            <a:r>
              <a:rPr kumimoji="0" lang="en-US" altLang="en-US" sz="1200" b="1" i="0" u="none" strike="noStrike" cap="none" normalizeH="0" baseline="0" dirty="0" err="1">
                <a:ln>
                  <a:noFill/>
                </a:ln>
                <a:solidFill>
                  <a:schemeClr val="tx1"/>
                </a:solidFill>
                <a:effectLst/>
                <a:latin typeface="Courier New" panose="02070309020205020404" pitchFamily="49" charset="0"/>
              </a:rPr>
              <a:t>f"Total</a:t>
            </a:r>
            <a:r>
              <a:rPr kumimoji="0" lang="en-US" altLang="en-US" sz="1200" b="1" i="0" u="none" strike="noStrike" cap="none" normalizeH="0" baseline="0" dirty="0">
                <a:ln>
                  <a:noFill/>
                </a:ln>
                <a:solidFill>
                  <a:schemeClr val="tx1"/>
                </a:solidFill>
                <a:effectLst/>
                <a:latin typeface="Courier New" panose="02070309020205020404" pitchFamily="49" charset="0"/>
              </a:rPr>
              <a:t> {category}: {</a:t>
            </a:r>
            <a:r>
              <a:rPr kumimoji="0" lang="en-US" altLang="en-US" sz="1200" b="1" i="0" u="none" strike="noStrike" cap="none" normalizeH="0" baseline="0" dirty="0" err="1">
                <a:ln>
                  <a:noFill/>
                </a:ln>
                <a:solidFill>
                  <a:schemeClr val="tx1"/>
                </a:solidFill>
                <a:effectLst/>
                <a:latin typeface="Courier New" panose="02070309020205020404" pitchFamily="49" charset="0"/>
              </a:rPr>
              <a:t>total_sales</a:t>
            </a:r>
            <a:r>
              <a:rPr kumimoji="0" lang="en-US" altLang="en-US" sz="1200" b="1" i="0" u="none" strike="noStrike" cap="none" normalizeH="0" baseline="0" dirty="0">
                <a:ln>
                  <a:noFill/>
                </a:ln>
                <a:solidFill>
                  <a:schemeClr val="tx1"/>
                </a:solidFill>
                <a:effectLst/>
                <a:latin typeface="Courier New" panose="02070309020205020404" pitchFamily="49" charset="0"/>
              </a:rPr>
              <a:t>}")</a:t>
            </a:r>
            <a:r>
              <a:rPr kumimoji="0" lang="en-US" altLang="en-US" sz="1200" b="0" i="0" u="none" strike="noStrike" cap="none" normalizeH="0" baseline="0" dirty="0">
                <a:ln>
                  <a:noFill/>
                </a:ln>
                <a:solidFill>
                  <a:schemeClr val="tx1"/>
                </a:solidFill>
                <a:effectLst/>
              </a:rPr>
              <a:t>: This line prints the result. It uses an f-string to create a message like "Total Electronics: 4500" by combining the category name and the calculated total sales.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So, in simple terms, the code groups the sales data by category and then uses a loop to go through each category, add up all the sales numbers in that category, and print the total for that category.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Let me know if you have any more questions about it!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give shortly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Okay, here's a shorter explanation: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This code organizes sales numbers for different product categories (like Electronics, Clothing, Groceries) in a list. Then, it goes through each category, adds up all the sales numbers for that category using the </a:t>
            </a:r>
            <a:r>
              <a:rPr kumimoji="0" lang="en-US" altLang="en-US" sz="1200" b="0" i="0" u="none" strike="noStrike" cap="none" normalizeH="0" baseline="0" dirty="0">
                <a:ln>
                  <a:noFill/>
                </a:ln>
                <a:solidFill>
                  <a:schemeClr val="tx1"/>
                </a:solidFill>
                <a:effectLst/>
                <a:latin typeface="Courier New" panose="02070309020205020404" pitchFamily="49" charset="0"/>
              </a:rPr>
              <a:t>sum()</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latin typeface="Arial" panose="020B0604020202020204" pitchFamily="34" charset="0"/>
              </a:rPr>
              <a:t>function, and prints the total sales for each one.</a:t>
            </a:r>
          </a:p>
        </p:txBody>
      </p:sp>
      <p:pic>
        <p:nvPicPr>
          <p:cNvPr id="2050" name="Picture 2">
            <a:extLst>
              <a:ext uri="{FF2B5EF4-FFF2-40B4-BE49-F238E27FC236}">
                <a16:creationId xmlns:a16="http://schemas.microsoft.com/office/drawing/2014/main" id="{2896EE16-B468-B750-0016-12ED10AC4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71783" y="3220942"/>
            <a:ext cx="228600" cy="4571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EED0811F-6DAF-1530-DF1B-7186D7155096}"/>
              </a:ext>
            </a:extLst>
          </p:cNvPr>
          <p:cNvSpPr>
            <a:spLocks noGrp="1"/>
          </p:cNvSpPr>
          <p:nvPr>
            <p:ph type="title"/>
          </p:nvPr>
        </p:nvSpPr>
        <p:spPr>
          <a:xfrm>
            <a:off x="156817" y="136209"/>
            <a:ext cx="10515600" cy="1325563"/>
          </a:xfrm>
        </p:spPr>
        <p:txBody>
          <a:bodyPr>
            <a:normAutofit/>
          </a:bodyPr>
          <a:lstStyle/>
          <a:p>
            <a:r>
              <a:rPr lang="en-IN" sz="2800" dirty="0"/>
              <a:t>EXPLAINATION</a:t>
            </a:r>
            <a:br>
              <a:rPr lang="en-IN" sz="2800" dirty="0"/>
            </a:br>
            <a:endParaRPr lang="en-IN" sz="2800" dirty="0"/>
          </a:p>
        </p:txBody>
      </p:sp>
      <p:sp>
        <p:nvSpPr>
          <p:cNvPr id="4" name="Content Placeholder 3">
            <a:extLst>
              <a:ext uri="{FF2B5EF4-FFF2-40B4-BE49-F238E27FC236}">
                <a16:creationId xmlns:a16="http://schemas.microsoft.com/office/drawing/2014/main" id="{FB60470A-204C-9A65-B24D-6E9FB8F49639}"/>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074935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1537</Words>
  <Application>Microsoft Office PowerPoint</Application>
  <PresentationFormat>Widescreen</PresentationFormat>
  <Paragraphs>81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Courier New</vt:lpstr>
      <vt:lpstr>Office Theme</vt:lpstr>
      <vt:lpstr>AI ASSISTED CODING </vt:lpstr>
      <vt:lpstr>PowerPoint Presentation</vt:lpstr>
      <vt:lpstr>PowerPoint Presentation</vt:lpstr>
      <vt:lpstr>PowerPoint Presentation</vt:lpstr>
      <vt:lpstr>EXPLAINATION</vt:lpstr>
      <vt:lpstr>PowerPoint Presentation</vt:lpstr>
      <vt:lpstr>CODE</vt:lpstr>
      <vt:lpstr>OUTPUT</vt:lpstr>
      <vt:lpstr>EXPLAINATION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Prathyusha beerelli</dc:creator>
  <cp:lastModifiedBy>Prathyusha beerelli</cp:lastModifiedBy>
  <cp:revision>1</cp:revision>
  <dcterms:created xsi:type="dcterms:W3CDTF">2025-11-11T03:43:24Z</dcterms:created>
  <dcterms:modified xsi:type="dcterms:W3CDTF">2025-11-11T03:45:13Z</dcterms:modified>
</cp:coreProperties>
</file>